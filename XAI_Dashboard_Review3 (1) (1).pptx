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5" r:id="rId5"/>
    <p:sldMasterId id="2147483656" r:id="rId6"/>
    <p:sldMasterId id="214748365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B9B7E7-A43A-4D2E-B312-CCB8F63433BE}">
  <a:tblStyle styleId="{DAB9B7E7-A43A-4D2E-B312-CCB8F63433B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108383A-7BE0-497E-914B-188FC33CC46F}"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a:tcStyle>
        <a:fill>
          <a:solidFill>
            <a:srgbClr val="CDD8FB"/>
          </a:solidFill>
        </a:fill>
      </a:tcStyle>
    </a:band1H>
    <a:band2H>
      <a:tcTxStyle/>
    </a:band2H>
    <a:band1V>
      <a:tcTxStyle/>
      <a:tcStyle>
        <a:fill>
          <a:solidFill>
            <a:srgbClr val="CDD8FB"/>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slide" Target="slides/slide31.xml"/><Relationship Id="rId16" Type="http://schemas.openxmlformats.org/officeDocument/2006/relationships/slide" Target="slides/slide8.xml"/><Relationship Id="rId38" Type="http://schemas.openxmlformats.org/officeDocument/2006/relationships/slide" Target="slides/slide30.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9" name="Google Shape;6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2" name="Google Shape;10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34" name="Google Shape;13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41" name="Google Shape;14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99" name="Google Shape;199;p22: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06" name="Google Shape;206;p23: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15" name="Google Shape;215;p24: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23" name="Google Shape;223;p25: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70" name="Google Shape;27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0" name="Shape 10"/>
        <p:cNvGrpSpPr/>
        <p:nvPr/>
      </p:nvGrpSpPr>
      <p:grpSpPr>
        <a:xfrm>
          <a:off x="0" y="0"/>
          <a:ext cx="0" cy="0"/>
          <a:chOff x="0" y="0"/>
          <a:chExt cx="0" cy="0"/>
        </a:xfrm>
      </p:grpSpPr>
      <p:sp>
        <p:nvSpPr>
          <p:cNvPr id="11" name="Google Shape;11;p2"/>
          <p:cNvSpPr txBox="1"/>
          <p:nvPr>
            <p:ph type="ctrTitle"/>
          </p:nvPr>
        </p:nvSpPr>
        <p:spPr>
          <a:xfrm>
            <a:off x="0" y="0"/>
            <a:ext cx="9144000" cy="649693"/>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5200"/>
              <a:buNone/>
              <a:defRPr b="1" sz="3200">
                <a:latin typeface="Times New Roman"/>
                <a:ea typeface="Times New Roman"/>
                <a:cs typeface="Times New Roman"/>
                <a:sym typeface="Times New Roman"/>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None/>
              <a:defRPr sz="2400">
                <a:latin typeface="Arial"/>
                <a:ea typeface="Arial"/>
                <a:cs typeface="Arial"/>
                <a:sym typeface="Arial"/>
              </a:defRPr>
            </a:lvl1pPr>
            <a:lvl2pPr indent="-228600" lvl="1" marL="914400" algn="l">
              <a:lnSpc>
                <a:spcPct val="100000"/>
              </a:lnSpc>
              <a:spcBef>
                <a:spcPts val="0"/>
              </a:spcBef>
              <a:spcAft>
                <a:spcPts val="0"/>
              </a:spcAft>
              <a:buSzPts val="1400"/>
              <a:buNone/>
              <a:defRPr sz="2200">
                <a:latin typeface="Arial"/>
                <a:ea typeface="Arial"/>
                <a:cs typeface="Arial"/>
                <a:sym typeface="Arial"/>
              </a:defRPr>
            </a:lvl2pPr>
            <a:lvl3pPr indent="-228600" lvl="2" marL="1371600" algn="l">
              <a:lnSpc>
                <a:spcPct val="100000"/>
              </a:lnSpc>
              <a:spcBef>
                <a:spcPts val="0"/>
              </a:spcBef>
              <a:spcAft>
                <a:spcPts val="0"/>
              </a:spcAft>
              <a:buSzPts val="1400"/>
              <a:buNone/>
              <a:defRPr sz="2200">
                <a:latin typeface="Arial"/>
                <a:ea typeface="Arial"/>
                <a:cs typeface="Arial"/>
                <a:sym typeface="Arial"/>
              </a:defRPr>
            </a:lvl3pPr>
            <a:lvl4pPr indent="-228600" lvl="3" marL="1828800" algn="l">
              <a:lnSpc>
                <a:spcPct val="100000"/>
              </a:lnSpc>
              <a:spcBef>
                <a:spcPts val="0"/>
              </a:spcBef>
              <a:spcAft>
                <a:spcPts val="0"/>
              </a:spcAft>
              <a:buSzPts val="1400"/>
              <a:buNone/>
              <a:defRPr sz="2000">
                <a:latin typeface="Arial"/>
                <a:ea typeface="Arial"/>
                <a:cs typeface="Arial"/>
                <a:sym typeface="Arial"/>
              </a:defRPr>
            </a:lvl4pPr>
            <a:lvl5pPr indent="-228600" lvl="4" marL="2286000" algn="l">
              <a:lnSpc>
                <a:spcPct val="100000"/>
              </a:lnSpc>
              <a:spcBef>
                <a:spcPts val="0"/>
              </a:spcBef>
              <a:spcAft>
                <a:spcPts val="0"/>
              </a:spcAft>
              <a:buSzPts val="1400"/>
              <a:buNone/>
              <a:defRPr sz="2000">
                <a:latin typeface="Arial"/>
                <a:ea typeface="Arial"/>
                <a:cs typeface="Arial"/>
                <a:sym typeface="Arial"/>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 name="Google Shape;13;p2"/>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2"/>
          <p:cNvSpPr txBox="1"/>
          <p:nvPr>
            <p:ph idx="11" type="ftr"/>
          </p:nvPr>
        </p:nvSpPr>
        <p:spPr>
          <a:xfrm>
            <a:off x="2706688" y="4760913"/>
            <a:ext cx="3538537" cy="1984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000000"/>
              </a:buClr>
              <a:buSzPts val="1400"/>
              <a:buFont typeface="Arial"/>
              <a:buNone/>
              <a:defRPr b="1"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sp>
        <p:nvSpPr>
          <p:cNvPr id="16" name="Google Shape;16;p3"/>
          <p:cNvSpPr txBox="1"/>
          <p:nvPr>
            <p:ph type="ctrTitle"/>
          </p:nvPr>
        </p:nvSpPr>
        <p:spPr>
          <a:xfrm>
            <a:off x="0" y="0"/>
            <a:ext cx="9144000" cy="649693"/>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5200"/>
              <a:buNone/>
              <a:defRPr b="1" sz="3200">
                <a:latin typeface="Times New Roman"/>
                <a:ea typeface="Times New Roman"/>
                <a:cs typeface="Times New Roman"/>
                <a:sym typeface="Times New Roman"/>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3"/>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400"/>
              <a:buNone/>
              <a:defRPr sz="2400">
                <a:latin typeface="Times New Roman"/>
                <a:ea typeface="Times New Roman"/>
                <a:cs typeface="Times New Roman"/>
                <a:sym typeface="Times New Roman"/>
              </a:defRPr>
            </a:lvl1pPr>
            <a:lvl2pPr indent="-228600" lvl="1" marL="914400" algn="l">
              <a:lnSpc>
                <a:spcPct val="100000"/>
              </a:lnSpc>
              <a:spcBef>
                <a:spcPts val="0"/>
              </a:spcBef>
              <a:spcAft>
                <a:spcPts val="0"/>
              </a:spcAft>
              <a:buSzPts val="1400"/>
              <a:buNone/>
              <a:defRPr sz="2200">
                <a:latin typeface="Times New Roman"/>
                <a:ea typeface="Times New Roman"/>
                <a:cs typeface="Times New Roman"/>
                <a:sym typeface="Times New Roman"/>
              </a:defRPr>
            </a:lvl2pPr>
            <a:lvl3pPr indent="-228600" lvl="2" marL="1371600" algn="l">
              <a:lnSpc>
                <a:spcPct val="100000"/>
              </a:lnSpc>
              <a:spcBef>
                <a:spcPts val="0"/>
              </a:spcBef>
              <a:spcAft>
                <a:spcPts val="0"/>
              </a:spcAft>
              <a:buSzPts val="1400"/>
              <a:buNone/>
              <a:defRPr sz="2200">
                <a:latin typeface="Times New Roman"/>
                <a:ea typeface="Times New Roman"/>
                <a:cs typeface="Times New Roman"/>
                <a:sym typeface="Times New Roman"/>
              </a:defRPr>
            </a:lvl3pPr>
            <a:lvl4pPr indent="-228600" lvl="3" marL="1828800" algn="l">
              <a:lnSpc>
                <a:spcPct val="100000"/>
              </a:lnSpc>
              <a:spcBef>
                <a:spcPts val="0"/>
              </a:spcBef>
              <a:spcAft>
                <a:spcPts val="0"/>
              </a:spcAft>
              <a:buSzPts val="1400"/>
              <a:buNone/>
              <a:defRPr sz="2000">
                <a:latin typeface="Times New Roman"/>
                <a:ea typeface="Times New Roman"/>
                <a:cs typeface="Times New Roman"/>
                <a:sym typeface="Times New Roman"/>
              </a:defRPr>
            </a:lvl4pPr>
            <a:lvl5pPr indent="-228600" lvl="4" marL="2286000" algn="l">
              <a:lnSpc>
                <a:spcPct val="100000"/>
              </a:lnSpc>
              <a:spcBef>
                <a:spcPts val="0"/>
              </a:spcBef>
              <a:spcAft>
                <a:spcPts val="0"/>
              </a:spcAft>
              <a:buSzPts val="1400"/>
              <a:buNone/>
              <a:defRPr sz="2000">
                <a:latin typeface="Times New Roman"/>
                <a:ea typeface="Times New Roman"/>
                <a:cs typeface="Times New Roman"/>
                <a:sym typeface="Times New Roman"/>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3"/>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3"/>
          <p:cNvSpPr txBox="1"/>
          <p:nvPr>
            <p:ph idx="11" type="ftr"/>
          </p:nvPr>
        </p:nvSpPr>
        <p:spPr>
          <a:xfrm>
            <a:off x="2706687" y="4760912"/>
            <a:ext cx="3538537" cy="1984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5"/>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5"/>
          <p:cNvSpPr txBox="1"/>
          <p:nvPr>
            <p:ph idx="11" type="ftr"/>
          </p:nvPr>
        </p:nvSpPr>
        <p:spPr>
          <a:xfrm>
            <a:off x="2706687" y="4760912"/>
            <a:ext cx="3538537" cy="1984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7"/>
          <p:cNvSpPr txBox="1"/>
          <p:nvPr>
            <p:ph idx="10" type="dt"/>
          </p:nvPr>
        </p:nvSpPr>
        <p:spPr>
          <a:xfrm>
            <a:off x="228600" y="3178175"/>
            <a:ext cx="1066800" cy="18256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 name="Google Shape;35;p7"/>
          <p:cNvSpPr txBox="1"/>
          <p:nvPr>
            <p:ph idx="11" type="ftr"/>
          </p:nvPr>
        </p:nvSpPr>
        <p:spPr>
          <a:xfrm>
            <a:off x="1562100" y="3178175"/>
            <a:ext cx="1447800" cy="18256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6" name="Google Shape;36;p7"/>
          <p:cNvSpPr txBox="1"/>
          <p:nvPr>
            <p:ph idx="12" type="sldNum"/>
          </p:nvPr>
        </p:nvSpPr>
        <p:spPr>
          <a:xfrm>
            <a:off x="3276600" y="3178175"/>
            <a:ext cx="1066800" cy="18256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9" name="Google Shape;39;p8"/>
          <p:cNvSpPr txBox="1"/>
          <p:nvPr>
            <p:ph idx="12" type="sldNum"/>
          </p:nvPr>
        </p:nvSpPr>
        <p:spPr>
          <a:xfrm>
            <a:off x="8472488" y="4662488"/>
            <a:ext cx="549275" cy="393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8"/>
          <p:cNvSpPr txBox="1"/>
          <p:nvPr>
            <p:ph idx="11" type="ftr"/>
          </p:nvPr>
        </p:nvSpPr>
        <p:spPr>
          <a:xfrm>
            <a:off x="2706688" y="4760913"/>
            <a:ext cx="3538537" cy="19843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900"/>
              <a:buFont typeface="Arial"/>
              <a:buNone/>
              <a:defRPr b="1"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1" name="Shape 41"/>
        <p:cNvGrpSpPr/>
        <p:nvPr/>
      </p:nvGrpSpPr>
      <p:grpSpPr>
        <a:xfrm>
          <a:off x="0" y="0"/>
          <a:ext cx="0" cy="0"/>
          <a:chOff x="0" y="0"/>
          <a:chExt cx="0" cy="0"/>
        </a:xfrm>
      </p:grpSpPr>
      <p:sp>
        <p:nvSpPr>
          <p:cNvPr id="42" name="Google Shape;42;p9"/>
          <p:cNvSpPr txBox="1"/>
          <p:nvPr>
            <p:ph type="ctrTitle"/>
          </p:nvPr>
        </p:nvSpPr>
        <p:spPr>
          <a:xfrm>
            <a:off x="0" y="0"/>
            <a:ext cx="9144000" cy="649693"/>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SzPts val="5200"/>
              <a:buNone/>
              <a:defRPr b="1" sz="3200">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3" name="Google Shape;43;p9"/>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SzPts val="1400"/>
              <a:buNone/>
              <a:defRPr sz="2400">
                <a:latin typeface="Times New Roman"/>
                <a:ea typeface="Times New Roman"/>
                <a:cs typeface="Times New Roman"/>
                <a:sym typeface="Times New Roman"/>
              </a:defRPr>
            </a:lvl1pPr>
            <a:lvl2pPr indent="-228600" lvl="1" marL="914400" algn="l">
              <a:spcBef>
                <a:spcPts val="0"/>
              </a:spcBef>
              <a:spcAft>
                <a:spcPts val="0"/>
              </a:spcAft>
              <a:buSzPts val="1400"/>
              <a:buNone/>
              <a:defRPr sz="2200">
                <a:latin typeface="Times New Roman"/>
                <a:ea typeface="Times New Roman"/>
                <a:cs typeface="Times New Roman"/>
                <a:sym typeface="Times New Roman"/>
              </a:defRPr>
            </a:lvl2pPr>
            <a:lvl3pPr indent="-228600" lvl="2" marL="1371600" algn="l">
              <a:spcBef>
                <a:spcPts val="0"/>
              </a:spcBef>
              <a:spcAft>
                <a:spcPts val="0"/>
              </a:spcAft>
              <a:buSzPts val="1400"/>
              <a:buNone/>
              <a:defRPr sz="2200">
                <a:latin typeface="Times New Roman"/>
                <a:ea typeface="Times New Roman"/>
                <a:cs typeface="Times New Roman"/>
                <a:sym typeface="Times New Roman"/>
              </a:defRPr>
            </a:lvl3pPr>
            <a:lvl4pPr indent="-228600" lvl="3" marL="1828800" algn="l">
              <a:spcBef>
                <a:spcPts val="0"/>
              </a:spcBef>
              <a:spcAft>
                <a:spcPts val="0"/>
              </a:spcAft>
              <a:buSzPts val="1400"/>
              <a:buNone/>
              <a:defRPr sz="2000">
                <a:latin typeface="Times New Roman"/>
                <a:ea typeface="Times New Roman"/>
                <a:cs typeface="Times New Roman"/>
                <a:sym typeface="Times New Roman"/>
              </a:defRPr>
            </a:lvl4pPr>
            <a:lvl5pPr indent="-228600" lvl="4" marL="2286000" algn="l">
              <a:spcBef>
                <a:spcPts val="0"/>
              </a:spcBef>
              <a:spcAft>
                <a:spcPts val="0"/>
              </a:spcAft>
              <a:buSzPts val="1400"/>
              <a:buNone/>
              <a:defRPr sz="2000">
                <a:latin typeface="Times New Roman"/>
                <a:ea typeface="Times New Roman"/>
                <a:cs typeface="Times New Roman"/>
                <a:sym typeface="Times New Roman"/>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472488" y="4662488"/>
            <a:ext cx="549275" cy="393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9"/>
          <p:cNvSpPr txBox="1"/>
          <p:nvPr>
            <p:ph idx="11" type="ftr"/>
          </p:nvPr>
        </p:nvSpPr>
        <p:spPr>
          <a:xfrm>
            <a:off x="2706688" y="4760913"/>
            <a:ext cx="3538537" cy="19843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900"/>
              <a:buFont typeface="Arial"/>
              <a:buNone/>
              <a:defRPr b="1"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46" name="Shape 46"/>
        <p:cNvGrpSpPr/>
        <p:nvPr/>
      </p:nvGrpSpPr>
      <p:grpSpPr>
        <a:xfrm>
          <a:off x="0" y="0"/>
          <a:ext cx="0" cy="0"/>
          <a:chOff x="0" y="0"/>
          <a:chExt cx="0" cy="0"/>
        </a:xfrm>
      </p:grpSpPr>
      <p:sp>
        <p:nvSpPr>
          <p:cNvPr id="47" name="Google Shape;47;p10"/>
          <p:cNvSpPr txBox="1"/>
          <p:nvPr>
            <p:ph type="ctrTitle"/>
          </p:nvPr>
        </p:nvSpPr>
        <p:spPr>
          <a:xfrm>
            <a:off x="0" y="0"/>
            <a:ext cx="9144000" cy="649693"/>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SzPts val="5200"/>
              <a:buNone/>
              <a:defRPr b="1" sz="3200">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8" name="Google Shape;48;p10"/>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SzPts val="1400"/>
              <a:buNone/>
              <a:defRPr sz="2400">
                <a:latin typeface="Times New Roman"/>
                <a:ea typeface="Times New Roman"/>
                <a:cs typeface="Times New Roman"/>
                <a:sym typeface="Times New Roman"/>
              </a:defRPr>
            </a:lvl1pPr>
            <a:lvl2pPr indent="-228600" lvl="1" marL="914400" algn="l">
              <a:spcBef>
                <a:spcPts val="0"/>
              </a:spcBef>
              <a:spcAft>
                <a:spcPts val="0"/>
              </a:spcAft>
              <a:buSzPts val="1400"/>
              <a:buNone/>
              <a:defRPr sz="2200">
                <a:latin typeface="Times New Roman"/>
                <a:ea typeface="Times New Roman"/>
                <a:cs typeface="Times New Roman"/>
                <a:sym typeface="Times New Roman"/>
              </a:defRPr>
            </a:lvl2pPr>
            <a:lvl3pPr indent="-228600" lvl="2" marL="1371600" algn="l">
              <a:spcBef>
                <a:spcPts val="0"/>
              </a:spcBef>
              <a:spcAft>
                <a:spcPts val="0"/>
              </a:spcAft>
              <a:buSzPts val="1400"/>
              <a:buNone/>
              <a:defRPr sz="2200">
                <a:latin typeface="Times New Roman"/>
                <a:ea typeface="Times New Roman"/>
                <a:cs typeface="Times New Roman"/>
                <a:sym typeface="Times New Roman"/>
              </a:defRPr>
            </a:lvl3pPr>
            <a:lvl4pPr indent="-228600" lvl="3" marL="1828800" algn="l">
              <a:spcBef>
                <a:spcPts val="0"/>
              </a:spcBef>
              <a:spcAft>
                <a:spcPts val="0"/>
              </a:spcAft>
              <a:buSzPts val="1400"/>
              <a:buNone/>
              <a:defRPr sz="2000">
                <a:latin typeface="Times New Roman"/>
                <a:ea typeface="Times New Roman"/>
                <a:cs typeface="Times New Roman"/>
                <a:sym typeface="Times New Roman"/>
              </a:defRPr>
            </a:lvl4pPr>
            <a:lvl5pPr indent="-228600" lvl="4" marL="2286000" algn="l">
              <a:spcBef>
                <a:spcPts val="0"/>
              </a:spcBef>
              <a:spcAft>
                <a:spcPts val="0"/>
              </a:spcAft>
              <a:buSzPts val="1400"/>
              <a:buNone/>
              <a:defRPr sz="2000">
                <a:latin typeface="Times New Roman"/>
                <a:ea typeface="Times New Roman"/>
                <a:cs typeface="Times New Roman"/>
                <a:sym typeface="Times New Roman"/>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472488" y="4662488"/>
            <a:ext cx="549275" cy="393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1pPr>
            <a:lvl2pPr indent="0" lvl="1"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2pPr>
            <a:lvl3pPr indent="0" lvl="2"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3pPr>
            <a:lvl4pPr indent="0" lvl="3"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0" lvl="4"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0" lvl="5"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6pPr>
            <a:lvl7pPr indent="0" lvl="6"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7pPr>
            <a:lvl8pPr indent="0" lvl="7"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8pPr>
            <a:lvl9pPr indent="0" lvl="8" marL="0" marR="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0" name="Google Shape;50;p10"/>
          <p:cNvSpPr txBox="1"/>
          <p:nvPr>
            <p:ph idx="11" type="ftr"/>
          </p:nvPr>
        </p:nvSpPr>
        <p:spPr>
          <a:xfrm>
            <a:off x="2706688" y="4760913"/>
            <a:ext cx="3538537" cy="19843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150" y="444500"/>
            <a:ext cx="8521700" cy="573087"/>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311150" y="1152525"/>
            <a:ext cx="8521700" cy="34163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1"/>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9" name="Google Shape;9;p1"/>
          <p:cNvSpPr txBox="1"/>
          <p:nvPr>
            <p:ph idx="11" type="ftr"/>
          </p:nvPr>
        </p:nvSpPr>
        <p:spPr>
          <a:xfrm>
            <a:off x="2706687" y="4760912"/>
            <a:ext cx="3538537" cy="19843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sp>
        <p:nvSpPr>
          <p:cNvPr id="21" name="Google Shape;21;p4"/>
          <p:cNvSpPr txBox="1"/>
          <p:nvPr>
            <p:ph type="title"/>
          </p:nvPr>
        </p:nvSpPr>
        <p:spPr>
          <a:xfrm>
            <a:off x="311150" y="444500"/>
            <a:ext cx="8521700" cy="573087"/>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p4"/>
          <p:cNvSpPr txBox="1"/>
          <p:nvPr>
            <p:ph idx="1" type="body"/>
          </p:nvPr>
        </p:nvSpPr>
        <p:spPr>
          <a:xfrm>
            <a:off x="311150" y="1152525"/>
            <a:ext cx="8521700" cy="34163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4"/>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595959"/>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
        <p:nvSpPr>
          <p:cNvPr id="24" name="Google Shape;24;p4"/>
          <p:cNvSpPr txBox="1"/>
          <p:nvPr>
            <p:ph idx="11" type="ftr"/>
          </p:nvPr>
        </p:nvSpPr>
        <p:spPr>
          <a:xfrm>
            <a:off x="2706687" y="4760912"/>
            <a:ext cx="3538537" cy="19843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sp>
        <p:nvSpPr>
          <p:cNvPr id="30" name="Google Shape;30;p6"/>
          <p:cNvSpPr txBox="1"/>
          <p:nvPr>
            <p:ph type="title"/>
          </p:nvPr>
        </p:nvSpPr>
        <p:spPr>
          <a:xfrm>
            <a:off x="311150" y="444500"/>
            <a:ext cx="8521700" cy="573088"/>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1" name="Google Shape;31;p6"/>
          <p:cNvSpPr txBox="1"/>
          <p:nvPr>
            <p:ph idx="1" type="body"/>
          </p:nvPr>
        </p:nvSpPr>
        <p:spPr>
          <a:xfrm>
            <a:off x="311150" y="1152525"/>
            <a:ext cx="8521700" cy="34163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2" name="Google Shape;32;p6"/>
          <p:cNvSpPr txBox="1"/>
          <p:nvPr>
            <p:ph idx="12" type="sldNum"/>
          </p:nvPr>
        </p:nvSpPr>
        <p:spPr>
          <a:xfrm>
            <a:off x="8472488" y="4662488"/>
            <a:ext cx="549275" cy="393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www.mdpi.com/1996-1073/17/19/4810?utm_source=chatgpt.com" TargetMode="External"/><Relationship Id="rId4" Type="http://schemas.openxmlformats.org/officeDocument/2006/relationships/hyperlink" Target="https://research.unsw.edu.au/projects/unsw-nb15-dataset" TargetMode="External"/><Relationship Id="rId5" Type="http://schemas.openxmlformats.org/officeDocument/2006/relationships/hyperlink" Target="https://www.unb.ca/cic/datasets/ids-2017.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www.researchgate.net/publication/374862995_IoT_Network_Anomaly_Detection_in_Smart_Homes_Using_Machine_Learning?utm_source=chatgpt.com" TargetMode="External"/><Relationship Id="rId4" Type="http://schemas.openxmlformats.org/officeDocument/2006/relationships/hyperlink" Target="https://arxiv.org/abs/2303.01021?utm_source=chatgpt.com" TargetMode="External"/><Relationship Id="rId5" Type="http://schemas.openxmlformats.org/officeDocument/2006/relationships/hyperlink" Target="https://arxiv.org/abs/2302.14781?utm_source=chatgpt.com" TargetMode="External"/><Relationship Id="rId6" Type="http://schemas.openxmlformats.org/officeDocument/2006/relationships/hyperlink" Target="https://arxiv.org/abs/1804.07474" TargetMode="External"/><Relationship Id="rId7" Type="http://schemas.openxmlformats.org/officeDocument/2006/relationships/hyperlink" Target="https://github.com/mandulaj/PZEM-004T-v30" TargetMode="External"/><Relationship Id="rId8" Type="http://schemas.openxmlformats.org/officeDocument/2006/relationships/hyperlink" Target="https://fastapi.tiangolo.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1"/>
          <p:cNvSpPr txBox="1"/>
          <p:nvPr>
            <p:ph type="ctrTitle"/>
          </p:nvPr>
        </p:nvSpPr>
        <p:spPr>
          <a:xfrm>
            <a:off x="82550" y="858738"/>
            <a:ext cx="9144000" cy="1713000"/>
          </a:xfrm>
          <a:prstGeom prst="rect">
            <a:avLst/>
          </a:prstGeom>
          <a:noFill/>
          <a:ln>
            <a:noFill/>
          </a:ln>
        </p:spPr>
        <p:txBody>
          <a:bodyPr anchorCtr="0" anchor="b" bIns="91425" lIns="91425" spcFirstLastPara="1" rIns="91425" wrap="square" tIns="91425">
            <a:normAutofit fontScale="90000"/>
          </a:bodyPr>
          <a:lstStyle/>
          <a:p>
            <a:pPr indent="0" lvl="0" marL="0" marR="0" rtl="0" algn="ctr">
              <a:lnSpc>
                <a:spcPct val="100000"/>
              </a:lnSpc>
              <a:spcBef>
                <a:spcPts val="0"/>
              </a:spcBef>
              <a:spcAft>
                <a:spcPts val="0"/>
              </a:spcAft>
              <a:buClr>
                <a:srgbClr val="000000"/>
              </a:buClr>
              <a:buSzPct val="240740"/>
              <a:buFont typeface="Arial"/>
              <a:buNone/>
            </a:pPr>
            <a:br>
              <a:rPr b="1" i="0" lang="en-US" sz="2400" u="none" cap="none" strike="noStrike">
                <a:solidFill>
                  <a:srgbClr val="000000"/>
                </a:solidFill>
                <a:latin typeface="Times New Roman"/>
                <a:ea typeface="Times New Roman"/>
                <a:cs typeface="Times New Roman"/>
                <a:sym typeface="Times New Roman"/>
              </a:rPr>
            </a:br>
            <a:br>
              <a:rPr b="1" i="0" lang="en-US" sz="2400" u="none" cap="none" strike="noStrike">
                <a:solidFill>
                  <a:srgbClr val="000000"/>
                </a:solidFill>
                <a:latin typeface="Times New Roman"/>
                <a:ea typeface="Times New Roman"/>
                <a:cs typeface="Times New Roman"/>
                <a:sym typeface="Times New Roman"/>
              </a:rPr>
            </a:br>
            <a:br>
              <a:rPr b="1" i="0" lang="en-US" sz="2400" u="none" cap="none" strike="noStrike">
                <a:solidFill>
                  <a:srgbClr val="000000"/>
                </a:solidFill>
                <a:latin typeface="Times New Roman"/>
                <a:ea typeface="Times New Roman"/>
                <a:cs typeface="Times New Roman"/>
                <a:sym typeface="Times New Roman"/>
              </a:rPr>
            </a:br>
            <a:br>
              <a:rPr b="1" i="0" lang="en-US" sz="2400" u="none" cap="none" strike="noStrike">
                <a:solidFill>
                  <a:srgbClr val="000000"/>
                </a:solidFill>
                <a:latin typeface="Times New Roman"/>
                <a:ea typeface="Times New Roman"/>
                <a:cs typeface="Times New Roman"/>
                <a:sym typeface="Times New Roman"/>
              </a:rPr>
            </a:br>
            <a:r>
              <a:rPr b="1" i="0" lang="en-US" sz="2000" u="none" cap="none" strike="noStrike">
                <a:solidFill>
                  <a:srgbClr val="000000"/>
                </a:solidFill>
                <a:latin typeface="Times New Roman"/>
                <a:ea typeface="Times New Roman"/>
                <a:cs typeface="Times New Roman"/>
                <a:sym typeface="Times New Roman"/>
              </a:rPr>
              <a:t>Gokaraju Rangaraju Institute of Engineering and Technology </a:t>
            </a:r>
            <a:br>
              <a:rPr b="1" i="0" lang="en-US" sz="2000" u="none" cap="none" strike="noStrike">
                <a:solidFill>
                  <a:srgbClr val="000000"/>
                </a:solidFill>
                <a:latin typeface="Times New Roman"/>
                <a:ea typeface="Times New Roman"/>
                <a:cs typeface="Times New Roman"/>
                <a:sym typeface="Times New Roman"/>
              </a:rPr>
            </a:br>
            <a:r>
              <a:rPr b="1" i="0" lang="en-US" sz="2000" u="none" cap="none" strike="noStrike">
                <a:solidFill>
                  <a:srgbClr val="000000"/>
                </a:solidFill>
                <a:latin typeface="Times New Roman"/>
                <a:ea typeface="Times New Roman"/>
                <a:cs typeface="Times New Roman"/>
                <a:sym typeface="Times New Roman"/>
              </a:rPr>
              <a:t>(Autonomous)</a:t>
            </a:r>
            <a:br>
              <a:rPr b="1" i="0" lang="en-US" sz="2000" u="none" cap="none" strike="noStrike">
                <a:solidFill>
                  <a:srgbClr val="000000"/>
                </a:solidFill>
                <a:latin typeface="Times New Roman"/>
                <a:ea typeface="Times New Roman"/>
                <a:cs typeface="Times New Roman"/>
                <a:sym typeface="Times New Roman"/>
              </a:rPr>
            </a:br>
            <a:r>
              <a:rPr b="1" i="0" lang="en-US" sz="2000" u="none" cap="none" strike="noStrike">
                <a:solidFill>
                  <a:srgbClr val="000000"/>
                </a:solidFill>
                <a:latin typeface="Times New Roman"/>
                <a:ea typeface="Times New Roman"/>
                <a:cs typeface="Times New Roman"/>
                <a:sym typeface="Times New Roman"/>
              </a:rPr>
              <a:t>Department of Data Science</a:t>
            </a:r>
            <a:br>
              <a:rPr b="1" i="0" lang="en-US" sz="2000" u="none" cap="none" strike="noStrike">
                <a:solidFill>
                  <a:srgbClr val="000000"/>
                </a:solidFill>
                <a:latin typeface="Times New Roman"/>
                <a:ea typeface="Times New Roman"/>
                <a:cs typeface="Times New Roman"/>
                <a:sym typeface="Times New Roman"/>
              </a:rPr>
            </a:br>
            <a:br>
              <a:rPr b="1" i="0" lang="en-US" sz="2000" u="none" cap="none" strike="noStrike">
                <a:solidFill>
                  <a:srgbClr val="000000"/>
                </a:solidFill>
                <a:latin typeface="Times New Roman"/>
                <a:ea typeface="Times New Roman"/>
                <a:cs typeface="Times New Roman"/>
                <a:sym typeface="Times New Roman"/>
              </a:rPr>
            </a:br>
            <a:r>
              <a:rPr b="1" i="0" lang="en-US" sz="2000" u="none" cap="none" strike="noStrike">
                <a:solidFill>
                  <a:schemeClr val="dk1"/>
                </a:solidFill>
                <a:latin typeface="Times New Roman"/>
                <a:ea typeface="Times New Roman"/>
                <a:cs typeface="Times New Roman"/>
                <a:sym typeface="Times New Roman"/>
              </a:rPr>
              <a:t>M</a:t>
            </a:r>
            <a:r>
              <a:rPr b="1" i="0" lang="en-US" sz="2000" u="none" cap="none" strike="noStrike">
                <a:solidFill>
                  <a:schemeClr val="dk1"/>
                </a:solidFill>
                <a:latin typeface="Arial"/>
                <a:ea typeface="Arial"/>
                <a:cs typeface="Arial"/>
                <a:sym typeface="Arial"/>
              </a:rPr>
              <a:t>ini</a:t>
            </a:r>
            <a:r>
              <a:rPr b="1" i="0" lang="en-US" sz="2000" u="none" cap="none" strike="noStrike">
                <a:solidFill>
                  <a:schemeClr val="dk1"/>
                </a:solidFill>
                <a:latin typeface="Times New Roman"/>
                <a:ea typeface="Times New Roman"/>
                <a:cs typeface="Times New Roman"/>
                <a:sym typeface="Times New Roman"/>
              </a:rPr>
              <a:t> Project Work</a:t>
            </a:r>
            <a:br>
              <a:rPr b="1" i="0" lang="en-US" sz="2000" u="none" cap="none" strike="noStrike">
                <a:solidFill>
                  <a:schemeClr val="dk1"/>
                </a:solidFill>
                <a:latin typeface="Times New Roman"/>
                <a:ea typeface="Times New Roman"/>
                <a:cs typeface="Times New Roman"/>
                <a:sym typeface="Times New Roman"/>
              </a:rPr>
            </a:br>
            <a:r>
              <a:rPr b="1" i="0" lang="en-US" sz="2000" u="none" cap="none" strike="noStrike">
                <a:solidFill>
                  <a:schemeClr val="dk1"/>
                </a:solidFill>
                <a:latin typeface="Times New Roman"/>
                <a:ea typeface="Times New Roman"/>
                <a:cs typeface="Times New Roman"/>
                <a:sym typeface="Times New Roman"/>
              </a:rPr>
              <a:t>(CSE(DS))</a:t>
            </a:r>
            <a:endParaRPr b="1" i="0" sz="2000" u="none" cap="none" strike="noStrike">
              <a:solidFill>
                <a:srgbClr val="000000"/>
              </a:solidFill>
              <a:latin typeface="Times New Roman"/>
              <a:ea typeface="Times New Roman"/>
              <a:cs typeface="Times New Roman"/>
              <a:sym typeface="Times New Roman"/>
            </a:endParaRPr>
          </a:p>
        </p:txBody>
      </p:sp>
      <p:sp>
        <p:nvSpPr>
          <p:cNvPr id="56" name="Google Shape;56;p11"/>
          <p:cNvSpPr txBox="1"/>
          <p:nvPr>
            <p:ph idx="4294967295" type="subTitle"/>
          </p:nvPr>
        </p:nvSpPr>
        <p:spPr>
          <a:xfrm>
            <a:off x="9525" y="2571750"/>
            <a:ext cx="9144000" cy="523875"/>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595959"/>
              </a:buClr>
              <a:buSzPts val="1800"/>
              <a:buFont typeface="Arial"/>
              <a:buNone/>
            </a:pPr>
            <a:r>
              <a:rPr b="1" i="0" lang="en-US" sz="2200" u="none" cap="none" strike="noStrike">
                <a:solidFill>
                  <a:srgbClr val="0C5ADB"/>
                </a:solidFill>
                <a:latin typeface="Times New Roman"/>
                <a:ea typeface="Times New Roman"/>
                <a:cs typeface="Times New Roman"/>
                <a:sym typeface="Times New Roman"/>
              </a:rPr>
              <a:t>Review 3: Module Presentation</a:t>
            </a:r>
            <a:endParaRPr b="1" i="0" sz="2800" u="none" cap="none" strike="noStrike">
              <a:solidFill>
                <a:schemeClr val="dk1"/>
              </a:solidFill>
              <a:latin typeface="Times New Roman"/>
              <a:ea typeface="Times New Roman"/>
              <a:cs typeface="Times New Roman"/>
              <a:sym typeface="Times New Roman"/>
            </a:endParaRPr>
          </a:p>
        </p:txBody>
      </p:sp>
      <p:pic>
        <p:nvPicPr>
          <p:cNvPr descr="Untitled-1 copy" id="57" name="Google Shape;57;p11"/>
          <p:cNvPicPr preferRelativeResize="0"/>
          <p:nvPr/>
        </p:nvPicPr>
        <p:blipFill rotWithShape="1">
          <a:blip r:embed="rId3">
            <a:alphaModFix/>
          </a:blip>
          <a:srcRect b="21857" l="25562" r="26994" t="23018"/>
          <a:stretch/>
        </p:blipFill>
        <p:spPr>
          <a:xfrm>
            <a:off x="4271978" y="114300"/>
            <a:ext cx="749950" cy="686975"/>
          </a:xfrm>
          <a:prstGeom prst="rect">
            <a:avLst/>
          </a:prstGeom>
          <a:noFill/>
          <a:ln>
            <a:noFill/>
          </a:ln>
        </p:spPr>
      </p:pic>
      <p:sp>
        <p:nvSpPr>
          <p:cNvPr id="58" name="Google Shape;58;p11"/>
          <p:cNvSpPr txBox="1"/>
          <p:nvPr/>
        </p:nvSpPr>
        <p:spPr>
          <a:xfrm>
            <a:off x="82550" y="3500438"/>
            <a:ext cx="4260850" cy="142081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Presented by: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1. Karthik Vaishnav (23241A67F9)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2. Srinish Reddy (23241A67D8)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3. Pranay Teja (23241A67J6)</a:t>
            </a:r>
            <a:endParaRPr b="0" i="0" sz="1400" u="none" cap="none" strike="noStrike">
              <a:solidFill>
                <a:srgbClr val="000000"/>
              </a:solidFill>
              <a:latin typeface="Arial"/>
              <a:ea typeface="Arial"/>
              <a:cs typeface="Arial"/>
              <a:sym typeface="Arial"/>
            </a:endParaRPr>
          </a:p>
        </p:txBody>
      </p:sp>
      <p:sp>
        <p:nvSpPr>
          <p:cNvPr id="59" name="Google Shape;59;p11"/>
          <p:cNvSpPr txBox="1"/>
          <p:nvPr/>
        </p:nvSpPr>
        <p:spPr>
          <a:xfrm>
            <a:off x="5767388" y="3500438"/>
            <a:ext cx="3294062" cy="1420812"/>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Under the Guidance of:</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6600"/>
              </a:buClr>
              <a:buSzPts val="1600"/>
              <a:buFont typeface="Times New Roman"/>
              <a:buNone/>
            </a:pPr>
            <a:r>
              <a:rPr b="1" i="0" lang="en-US" sz="1600" u="none" cap="none" strike="noStrike">
                <a:solidFill>
                  <a:srgbClr val="006600"/>
                </a:solidFill>
                <a:latin typeface="Times New Roman"/>
                <a:ea typeface="Times New Roman"/>
                <a:cs typeface="Times New Roman"/>
                <a:sym typeface="Times New Roman"/>
              </a:rPr>
              <a:t>Ms. K Kalpana</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6600"/>
              </a:buClr>
              <a:buSzPts val="1600"/>
              <a:buFont typeface="Times New Roman"/>
              <a:buNone/>
            </a:pPr>
            <a:r>
              <a:rPr b="1" i="0" lang="en-US" sz="1600" u="none" cap="none" strike="noStrike">
                <a:solidFill>
                  <a:srgbClr val="006600"/>
                </a:solidFill>
                <a:latin typeface="Times New Roman"/>
                <a:ea typeface="Times New Roman"/>
                <a:cs typeface="Times New Roman"/>
                <a:sym typeface="Times New Roman"/>
              </a:rPr>
              <a:t>Assistant Professor</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6600"/>
              </a:buClr>
              <a:buSzPts val="1600"/>
              <a:buFont typeface="Times New Roman"/>
              <a:buNone/>
            </a:pPr>
            <a:r>
              <a:t/>
            </a:r>
            <a:endParaRPr b="1" i="0" sz="1600" u="none" cap="none" strike="noStrike">
              <a:solidFill>
                <a:srgbClr val="000000"/>
              </a:solidFill>
              <a:latin typeface="Times New Roman"/>
              <a:ea typeface="Times New Roman"/>
              <a:cs typeface="Times New Roman"/>
              <a:sym typeface="Times New Roman"/>
            </a:endParaRPr>
          </a:p>
        </p:txBody>
      </p:sp>
      <p:sp>
        <p:nvSpPr>
          <p:cNvPr id="60" name="Google Shape;60;p11"/>
          <p:cNvSpPr txBox="1"/>
          <p:nvPr/>
        </p:nvSpPr>
        <p:spPr>
          <a:xfrm>
            <a:off x="82550" y="2976563"/>
            <a:ext cx="1992313" cy="523875"/>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200"/>
              <a:buFont typeface="Arial"/>
              <a:buNone/>
            </a:pPr>
            <a:r>
              <a:rPr b="1" i="0" lang="en-US" sz="1800" u="none" cap="none" strike="noStrike">
                <a:solidFill>
                  <a:srgbClr val="0D5BDC"/>
                </a:solidFill>
                <a:latin typeface="Times New Roman"/>
                <a:ea typeface="Times New Roman"/>
                <a:cs typeface="Times New Roman"/>
                <a:sym typeface="Times New Roman"/>
              </a:rPr>
              <a:t>Batch No - 7</a:t>
            </a:r>
            <a:endParaRPr b="0" i="0" sz="18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2200"/>
              <a:buFont typeface="Arial"/>
              <a:buNone/>
            </a:pPr>
            <a:r>
              <a:t/>
            </a:r>
            <a:endParaRPr b="1" i="0" sz="2200" u="none" cap="none" strike="noStrike">
              <a:solidFill>
                <a:srgbClr val="0D5BDC"/>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1400"/>
              <a:buFont typeface="Arial"/>
              <a:buNone/>
            </a:pPr>
            <a:r>
              <a:t/>
            </a:r>
            <a:endParaRPr b="1" i="0" sz="2200" u="none" cap="none" strike="noStrike">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2"/>
          <p:cNvSpPr txBox="1"/>
          <p:nvPr>
            <p:ph type="title"/>
          </p:nvPr>
        </p:nvSpPr>
        <p:spPr>
          <a:xfrm>
            <a:off x="403058" y="1407695"/>
            <a:ext cx="8379995" cy="1750594"/>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US">
                <a:solidFill>
                  <a:srgbClr val="FF0000"/>
                </a:solidFill>
              </a:rPr>
              <a:t>Explainable AI (XAI) Dashboard for Students</a:t>
            </a:r>
            <a:endParaRPr>
              <a:solidFill>
                <a:srgbClr val="FF0000"/>
              </a:solidFill>
            </a:endParaRPr>
          </a:p>
        </p:txBody>
      </p:sp>
      <p:sp>
        <p:nvSpPr>
          <p:cNvPr id="66" name="Google Shape;66;p12"/>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3"/>
          <p:cNvSpPr txBox="1"/>
          <p:nvPr>
            <p:ph type="ctrTitle"/>
          </p:nvPr>
        </p:nvSpPr>
        <p:spPr>
          <a:xfrm>
            <a:off x="391026" y="210552"/>
            <a:ext cx="9144000" cy="649287"/>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80555"/>
              <a:buNone/>
            </a:pPr>
            <a:r>
              <a:rPr lang="en-US"/>
              <a:t>Introduction</a:t>
            </a:r>
            <a:endParaRPr/>
          </a:p>
        </p:txBody>
      </p:sp>
      <p:sp>
        <p:nvSpPr>
          <p:cNvPr id="72" name="Google Shape;72;p13"/>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3" name="Google Shape;73;p13"/>
          <p:cNvSpPr txBox="1"/>
          <p:nvPr>
            <p:ph idx="1" type="body"/>
          </p:nvPr>
        </p:nvSpPr>
        <p:spPr>
          <a:xfrm>
            <a:off x="296562" y="914400"/>
            <a:ext cx="8377881" cy="3479800"/>
          </a:xfrm>
          <a:prstGeom prst="rect">
            <a:avLst/>
          </a:prstGeom>
          <a:noFill/>
          <a:ln>
            <a:noFill/>
          </a:ln>
        </p:spPr>
        <p:txBody>
          <a:bodyPr anchorCtr="0" anchor="t" bIns="91425" lIns="91425" spcFirstLastPara="1" rIns="91425" wrap="square" tIns="91425">
            <a:normAutofit fontScale="92500" lnSpcReduction="10000"/>
          </a:bodyPr>
          <a:lstStyle/>
          <a:p>
            <a:pPr indent="-342900" lvl="0" marL="571500" rtl="0" algn="just">
              <a:lnSpc>
                <a:spcPct val="150000"/>
              </a:lnSpc>
              <a:spcBef>
                <a:spcPts val="0"/>
              </a:spcBef>
              <a:spcAft>
                <a:spcPts val="0"/>
              </a:spcAft>
              <a:buSzPct val="75675"/>
              <a:buFont typeface="Arial"/>
              <a:buChar char="•"/>
            </a:pPr>
            <a:r>
              <a:rPr b="1" lang="en-US" sz="2000"/>
              <a:t>System Concept:</a:t>
            </a:r>
            <a:r>
              <a:rPr lang="en-US" sz="2000"/>
              <a:t> An interactive Explainable AI (XAI) learning dashboard that helps students understand how machine learning models make decisions.</a:t>
            </a:r>
            <a:endParaRPr/>
          </a:p>
          <a:p>
            <a:pPr indent="-342900" lvl="0" marL="571500" rtl="0" algn="just">
              <a:lnSpc>
                <a:spcPct val="150000"/>
              </a:lnSpc>
              <a:spcBef>
                <a:spcPts val="0"/>
              </a:spcBef>
              <a:spcAft>
                <a:spcPts val="0"/>
              </a:spcAft>
              <a:buSzPct val="75675"/>
              <a:buFont typeface="Arial"/>
              <a:buChar char="•"/>
            </a:pPr>
            <a:r>
              <a:rPr b="1" lang="en-US" sz="2000"/>
              <a:t>Problem Context:</a:t>
            </a:r>
            <a:r>
              <a:rPr lang="en-US" sz="2000"/>
              <a:t> Traditional ML tools focus mainly on performance metrics like accuracy, making models appear as black boxes to students.</a:t>
            </a:r>
            <a:endParaRPr/>
          </a:p>
          <a:p>
            <a:pPr indent="-342900" lvl="0" marL="571500" rtl="0" algn="just">
              <a:lnSpc>
                <a:spcPct val="150000"/>
              </a:lnSpc>
              <a:spcBef>
                <a:spcPts val="0"/>
              </a:spcBef>
              <a:spcAft>
                <a:spcPts val="0"/>
              </a:spcAft>
              <a:buSzPct val="75675"/>
              <a:buFont typeface="Arial"/>
              <a:buChar char="•"/>
            </a:pPr>
            <a:r>
              <a:rPr b="1" lang="en-US" sz="2000"/>
              <a:t>Core Idea:</a:t>
            </a:r>
            <a:r>
              <a:rPr lang="en-US" sz="2000"/>
              <a:t> Integrate model training, visualization, and explanation techniques (SHAP and LIME) into a single educational workbench.</a:t>
            </a:r>
            <a:endParaRPr/>
          </a:p>
          <a:p>
            <a:pPr indent="-342900" lvl="0" marL="571500" rtl="0" algn="just">
              <a:lnSpc>
                <a:spcPct val="150000"/>
              </a:lnSpc>
              <a:spcBef>
                <a:spcPts val="0"/>
              </a:spcBef>
              <a:spcAft>
                <a:spcPts val="0"/>
              </a:spcAft>
              <a:buSzPct val="75675"/>
              <a:buFont typeface="Arial"/>
              <a:buChar char="•"/>
            </a:pPr>
            <a:r>
              <a:rPr b="1" lang="en-US" sz="2000"/>
              <a:t>Data Source:</a:t>
            </a:r>
            <a:r>
              <a:rPr lang="en-US" sz="2000"/>
              <a:t> Real-world datasets uploaded by students in CSV format, preprocessed automatically for ML model training and explanation.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idx="1" type="body"/>
          </p:nvPr>
        </p:nvSpPr>
        <p:spPr>
          <a:xfrm>
            <a:off x="147251" y="457200"/>
            <a:ext cx="8763000" cy="3719384"/>
          </a:xfrm>
          <a:prstGeom prst="rect">
            <a:avLst/>
          </a:prstGeom>
          <a:noFill/>
          <a:ln>
            <a:noFill/>
          </a:ln>
        </p:spPr>
        <p:txBody>
          <a:bodyPr anchorCtr="0" anchor="t" bIns="91425" lIns="91425" spcFirstLastPara="1" rIns="91425" wrap="square" tIns="91425">
            <a:noAutofit/>
          </a:bodyPr>
          <a:lstStyle/>
          <a:p>
            <a:pPr indent="-342900" lvl="0" marL="571500" rtl="0" algn="just">
              <a:lnSpc>
                <a:spcPct val="150000"/>
              </a:lnSpc>
              <a:spcBef>
                <a:spcPts val="0"/>
              </a:spcBef>
              <a:spcAft>
                <a:spcPts val="0"/>
              </a:spcAft>
              <a:buSzPts val="1400"/>
              <a:buFont typeface="Arial"/>
              <a:buChar char="•"/>
            </a:pPr>
            <a:r>
              <a:rPr b="1" lang="en-US" sz="1900">
                <a:latin typeface="Times New Roman"/>
                <a:ea typeface="Times New Roman"/>
                <a:cs typeface="Times New Roman"/>
                <a:sym typeface="Times New Roman"/>
              </a:rPr>
              <a:t>Explanation Method</a:t>
            </a:r>
            <a:r>
              <a:rPr lang="en-US" sz="1900">
                <a:latin typeface="Times New Roman"/>
                <a:ea typeface="Times New Roman"/>
                <a:cs typeface="Times New Roman"/>
                <a:sym typeface="Times New Roman"/>
              </a:rPr>
              <a:t>: Provide global explanations (overall feature importance) and local explanations (feature contributions for individual predictions) using SHAP and LIME.</a:t>
            </a:r>
            <a:endParaRPr/>
          </a:p>
          <a:p>
            <a:pPr indent="-342900" lvl="0" marL="571500" rtl="0" algn="just">
              <a:lnSpc>
                <a:spcPct val="150000"/>
              </a:lnSpc>
              <a:spcBef>
                <a:spcPts val="0"/>
              </a:spcBef>
              <a:spcAft>
                <a:spcPts val="0"/>
              </a:spcAft>
              <a:buSzPts val="1400"/>
              <a:buFont typeface="Arial"/>
              <a:buChar char="•"/>
            </a:pPr>
            <a:r>
              <a:rPr b="1" lang="en-US" sz="1900">
                <a:latin typeface="Times New Roman"/>
                <a:ea typeface="Times New Roman"/>
                <a:cs typeface="Times New Roman"/>
                <a:sym typeface="Times New Roman"/>
              </a:rPr>
              <a:t>Dashboard Features</a:t>
            </a:r>
            <a:r>
              <a:rPr lang="en-US" sz="1900">
                <a:latin typeface="Times New Roman"/>
                <a:ea typeface="Times New Roman"/>
                <a:cs typeface="Times New Roman"/>
                <a:sym typeface="Times New Roman"/>
              </a:rPr>
              <a:t>: Interactive 2D/3D visualizations, decision boundaries, confusion matrix, and what-if scenario simulation for hands-on learning.</a:t>
            </a:r>
            <a:endParaRPr/>
          </a:p>
          <a:p>
            <a:pPr indent="-342900" lvl="0" marL="571500" rtl="0" algn="just">
              <a:lnSpc>
                <a:spcPct val="150000"/>
              </a:lnSpc>
              <a:spcBef>
                <a:spcPts val="0"/>
              </a:spcBef>
              <a:spcAft>
                <a:spcPts val="0"/>
              </a:spcAft>
              <a:buSzPts val="1400"/>
              <a:buFont typeface="Arial"/>
              <a:buChar char="•"/>
            </a:pPr>
            <a:r>
              <a:rPr b="1" lang="en-US" sz="2000">
                <a:latin typeface="Times New Roman"/>
                <a:ea typeface="Times New Roman"/>
                <a:cs typeface="Times New Roman"/>
                <a:sym typeface="Times New Roman"/>
              </a:rPr>
              <a:t>ML Models Supported:</a:t>
            </a:r>
            <a:r>
              <a:rPr lang="en-US" sz="2000">
                <a:latin typeface="Times New Roman"/>
                <a:ea typeface="Times New Roman"/>
                <a:cs typeface="Times New Roman"/>
                <a:sym typeface="Times New Roman"/>
              </a:rPr>
              <a:t> Support multiple ML models including Logistic Regression, Decision Tree, Random Forest, and SVM with configurable train-test splits.</a:t>
            </a:r>
            <a:endParaRPr sz="1900">
              <a:latin typeface="Times New Roman"/>
              <a:ea typeface="Times New Roman"/>
              <a:cs typeface="Times New Roman"/>
              <a:sym typeface="Times New Roman"/>
            </a:endParaRPr>
          </a:p>
          <a:p>
            <a:pPr indent="-342900" lvl="0" marL="571500" rtl="0" algn="just">
              <a:lnSpc>
                <a:spcPct val="150000"/>
              </a:lnSpc>
              <a:spcBef>
                <a:spcPts val="0"/>
              </a:spcBef>
              <a:spcAft>
                <a:spcPts val="0"/>
              </a:spcAft>
              <a:buSzPts val="1400"/>
              <a:buFont typeface="Arial"/>
              <a:buChar char="•"/>
            </a:pPr>
            <a:r>
              <a:rPr b="1" lang="en-US" sz="1900">
                <a:latin typeface="Times New Roman"/>
                <a:ea typeface="Times New Roman"/>
                <a:cs typeface="Times New Roman"/>
                <a:sym typeface="Times New Roman"/>
              </a:rPr>
              <a:t>Expected Impact</a:t>
            </a:r>
            <a:r>
              <a:rPr lang="en-US" sz="1900">
                <a:latin typeface="Times New Roman"/>
                <a:ea typeface="Times New Roman"/>
                <a:cs typeface="Times New Roman"/>
                <a:sym typeface="Times New Roman"/>
              </a:rPr>
              <a:t>: Transform ML education from a formula-driven process into a visual, interactive, and explanation-driven learning experience.</a:t>
            </a:r>
            <a:endParaRPr sz="1900">
              <a:latin typeface="Times New Roman"/>
              <a:ea typeface="Times New Roman"/>
              <a:cs typeface="Times New Roman"/>
              <a:sym typeface="Times New Roman"/>
            </a:endParaRPr>
          </a:p>
        </p:txBody>
      </p:sp>
      <p:sp>
        <p:nvSpPr>
          <p:cNvPr id="79" name="Google Shape;79;p14"/>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ctrTitle"/>
          </p:nvPr>
        </p:nvSpPr>
        <p:spPr>
          <a:xfrm>
            <a:off x="318168" y="87313"/>
            <a:ext cx="9144000" cy="649693"/>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80555"/>
              <a:buNone/>
            </a:pPr>
            <a:r>
              <a:rPr lang="en-US"/>
              <a:t>Discuss Base paper</a:t>
            </a:r>
            <a:endParaRPr/>
          </a:p>
        </p:txBody>
      </p:sp>
      <p:sp>
        <p:nvSpPr>
          <p:cNvPr id="85" name="Google Shape;85;p15"/>
          <p:cNvSpPr txBox="1"/>
          <p:nvPr>
            <p:ph idx="1" type="body"/>
          </p:nvPr>
        </p:nvSpPr>
        <p:spPr>
          <a:xfrm>
            <a:off x="62825" y="703850"/>
            <a:ext cx="8694000" cy="3882000"/>
          </a:xfrm>
          <a:prstGeom prst="rect">
            <a:avLst/>
          </a:prstGeom>
          <a:noFill/>
          <a:ln>
            <a:noFill/>
          </a:ln>
        </p:spPr>
        <p:txBody>
          <a:bodyPr anchorCtr="0" anchor="t" bIns="91425" lIns="91425" spcFirstLastPara="1" rIns="91425" wrap="square" tIns="91425">
            <a:noAutofit/>
          </a:bodyPr>
          <a:lstStyle/>
          <a:p>
            <a:pPr indent="-342900" lvl="0" marL="571500" rtl="0" algn="l">
              <a:lnSpc>
                <a:spcPct val="115000"/>
              </a:lnSpc>
              <a:spcBef>
                <a:spcPts val="0"/>
              </a:spcBef>
              <a:spcAft>
                <a:spcPts val="0"/>
              </a:spcAft>
              <a:buSzPts val="1400"/>
              <a:buFont typeface="Arial"/>
              <a:buChar char="•"/>
            </a:pPr>
            <a:r>
              <a:rPr b="1" lang="en-US" sz="2000">
                <a:latin typeface="Times New Roman"/>
                <a:ea typeface="Times New Roman"/>
                <a:cs typeface="Times New Roman"/>
                <a:sym typeface="Times New Roman"/>
              </a:rPr>
              <a:t>Title:</a:t>
            </a:r>
            <a:r>
              <a:rPr lang="en-US" sz="2000">
                <a:latin typeface="Times New Roman"/>
                <a:ea typeface="Times New Roman"/>
                <a:cs typeface="Times New Roman"/>
                <a:sym typeface="Times New Roman"/>
              </a:rPr>
              <a:t> “Why Should I Trust You?” Explaining the Predictions of Any Classifier</a:t>
            </a:r>
            <a:endParaRPr/>
          </a:p>
          <a:p>
            <a:pPr indent="-342900" lvl="0" marL="571500" rtl="0" algn="l">
              <a:lnSpc>
                <a:spcPct val="115000"/>
              </a:lnSpc>
              <a:spcBef>
                <a:spcPts val="0"/>
              </a:spcBef>
              <a:spcAft>
                <a:spcPts val="0"/>
              </a:spcAft>
              <a:buSzPts val="1400"/>
              <a:buFont typeface="Arial"/>
              <a:buChar char="•"/>
            </a:pPr>
            <a:r>
              <a:rPr b="1" lang="en-US" sz="2000">
                <a:latin typeface="Times New Roman"/>
                <a:ea typeface="Times New Roman"/>
                <a:cs typeface="Times New Roman"/>
                <a:sym typeface="Times New Roman"/>
              </a:rPr>
              <a:t>Authors: </a:t>
            </a:r>
            <a:r>
              <a:rPr lang="en-US" sz="2000">
                <a:solidFill>
                  <a:schemeClr val="dk1"/>
                </a:solidFill>
                <a:latin typeface="Times New Roman"/>
                <a:ea typeface="Times New Roman"/>
                <a:cs typeface="Times New Roman"/>
                <a:sym typeface="Times New Roman"/>
              </a:rPr>
              <a:t>Ribeiro, M. T., Singh, S., &amp; Guestrin, C.</a:t>
            </a:r>
            <a:endParaRPr/>
          </a:p>
          <a:p>
            <a:pPr indent="0" lvl="0" marL="228600" rtl="0" algn="l">
              <a:lnSpc>
                <a:spcPct val="115000"/>
              </a:lnSpc>
              <a:spcBef>
                <a:spcPts val="0"/>
              </a:spcBef>
              <a:spcAft>
                <a:spcPts val="0"/>
              </a:spcAft>
              <a:buSzPts val="1400"/>
              <a:buNone/>
            </a:pPr>
            <a:r>
              <a:rPr lang="en-US" sz="2000">
                <a:solidFill>
                  <a:schemeClr val="dk1"/>
                </a:solidFill>
                <a:latin typeface="Times New Roman"/>
                <a:ea typeface="Times New Roman"/>
                <a:cs typeface="Times New Roman"/>
                <a:sym typeface="Times New Roman"/>
              </a:rPr>
              <a:t>     (2016)</a:t>
            </a:r>
            <a:endParaRPr/>
          </a:p>
          <a:p>
            <a:pPr indent="-342900" lvl="0" marL="571500" rtl="0" algn="l">
              <a:lnSpc>
                <a:spcPct val="115000"/>
              </a:lnSpc>
              <a:spcBef>
                <a:spcPts val="0"/>
              </a:spcBef>
              <a:spcAft>
                <a:spcPts val="0"/>
              </a:spcAft>
              <a:buSzPts val="1400"/>
              <a:buFont typeface="Arial"/>
              <a:buChar char="•"/>
            </a:pPr>
            <a:r>
              <a:rPr b="1" lang="en-US" sz="2000">
                <a:latin typeface="Times New Roman"/>
                <a:ea typeface="Times New Roman"/>
                <a:cs typeface="Times New Roman"/>
                <a:sym typeface="Times New Roman"/>
              </a:rPr>
              <a:t>Journal:</a:t>
            </a:r>
            <a:r>
              <a:rPr lang="en-US" sz="2000">
                <a:latin typeface="Times New Roman"/>
                <a:ea typeface="Times New Roman"/>
                <a:cs typeface="Times New Roman"/>
                <a:sym typeface="Times New Roman"/>
              </a:rPr>
              <a:t> Proceedings of the 22nd ACM SIGKDD International Conference, 2016</a:t>
            </a:r>
            <a:endParaRPr/>
          </a:p>
          <a:p>
            <a:pPr indent="-342900" lvl="0" marL="571500" rtl="0" algn="l">
              <a:lnSpc>
                <a:spcPct val="115000"/>
              </a:lnSpc>
              <a:spcBef>
                <a:spcPts val="0"/>
              </a:spcBef>
              <a:spcAft>
                <a:spcPts val="0"/>
              </a:spcAft>
              <a:buSzPts val="1400"/>
              <a:buFont typeface="Arial"/>
              <a:buChar char="•"/>
            </a:pPr>
            <a:r>
              <a:rPr b="1" lang="en-US" sz="2000">
                <a:latin typeface="Times New Roman"/>
                <a:ea typeface="Times New Roman"/>
                <a:cs typeface="Times New Roman"/>
                <a:sym typeface="Times New Roman"/>
              </a:rPr>
              <a:t>Core Objective:</a:t>
            </a:r>
            <a:r>
              <a:rPr lang="en-US" sz="2000">
                <a:latin typeface="Times New Roman"/>
                <a:ea typeface="Times New Roman"/>
                <a:cs typeface="Times New Roman"/>
                <a:sym typeface="Times New Roman"/>
              </a:rPr>
              <a:t> Introduces LIME — a technique to explain predictions of any black-box ML model by approximating it locally with a simple interpretable model. Forms the basis for local explanations in our XAI Dashboard.</a:t>
            </a:r>
            <a:endParaRPr/>
          </a:p>
        </p:txBody>
      </p:sp>
      <p:sp>
        <p:nvSpPr>
          <p:cNvPr id="86" name="Google Shape;86;p15"/>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92" name="Google Shape;92;p16"/>
          <p:cNvSpPr txBox="1"/>
          <p:nvPr>
            <p:ph idx="1" type="body"/>
          </p:nvPr>
        </p:nvSpPr>
        <p:spPr>
          <a:xfrm>
            <a:off x="484077" y="270422"/>
            <a:ext cx="8357183" cy="4247317"/>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None/>
            </a:pPr>
            <a:r>
              <a:rPr b="1" i="0" lang="en-US" sz="2000" u="none" cap="none" strike="noStrike">
                <a:solidFill>
                  <a:schemeClr val="dk1"/>
                </a:solidFill>
                <a:latin typeface="Times New Roman"/>
                <a:ea typeface="Times New Roman"/>
                <a:cs typeface="Times New Roman"/>
                <a:sym typeface="Times New Roman"/>
              </a:rPr>
              <a:t>Main Points discussed in papers</a:t>
            </a:r>
            <a:r>
              <a:rPr b="0" i="0" lang="en-US" sz="2000" u="none" cap="none" strike="noStrike">
                <a:solidFill>
                  <a:schemeClr val="dk1"/>
                </a:solidFill>
                <a:latin typeface="Times New Roman"/>
                <a:ea typeface="Times New Roman"/>
                <a:cs typeface="Times New Roman"/>
                <a:sym typeface="Times New Roman"/>
              </a:rPr>
              <a:t>:</a:t>
            </a:r>
            <a:endParaRPr/>
          </a:p>
          <a:p>
            <a:pPr indent="-127000" lvl="0" marL="0" marR="0" rtl="0" algn="just">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LIME explains individual predictions by approximating the complex model locally using a simple, interpretable surrogate model.</a:t>
            </a:r>
            <a:endParaRPr/>
          </a:p>
          <a:p>
            <a:pPr indent="-127000" lvl="0" marL="0" marR="0" rtl="0" algn="just">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Input perturbations are used to observe how prediction changes, helping identify the most important features for a given prediction.</a:t>
            </a:r>
            <a:endParaRPr/>
          </a:p>
          <a:p>
            <a:pPr indent="-127000" lvl="0" marL="0" marR="0" rtl="0" algn="just">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The method is model-agnostic — applicable to any classifier or regressor — improving transparency, trust, and debugging of ML models.</a:t>
            </a:r>
            <a:endParaRPr/>
          </a:p>
          <a:p>
            <a:pPr indent="-127000" lvl="0" marL="0" marR="0" rtl="0" algn="just">
              <a:lnSpc>
                <a:spcPct val="15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Experimental results demonstrate that local explanations significantly improve user trust and understanding compared to black-box model outputs.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ctrTitle"/>
          </p:nvPr>
        </p:nvSpPr>
        <p:spPr>
          <a:xfrm>
            <a:off x="-135924" y="164179"/>
            <a:ext cx="7026532" cy="649693"/>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80555"/>
              <a:buNone/>
            </a:pPr>
            <a:r>
              <a:rPr lang="en-US"/>
              <a:t>Comparison with Base paper</a:t>
            </a:r>
            <a:br>
              <a:rPr b="0" lang="en-US"/>
            </a:br>
            <a:br>
              <a:rPr lang="en-US"/>
            </a:br>
            <a:endParaRPr/>
          </a:p>
        </p:txBody>
      </p:sp>
      <p:sp>
        <p:nvSpPr>
          <p:cNvPr id="98" name="Google Shape;98;p17"/>
          <p:cNvSpPr txBox="1"/>
          <p:nvPr>
            <p:ph idx="12" type="sldNum"/>
          </p:nvPr>
        </p:nvSpPr>
        <p:spPr>
          <a:xfrm>
            <a:off x="8491022" y="4681022"/>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graphicFrame>
        <p:nvGraphicFramePr>
          <p:cNvPr id="99" name="Google Shape;99;p17"/>
          <p:cNvGraphicFramePr/>
          <p:nvPr/>
        </p:nvGraphicFramePr>
        <p:xfrm>
          <a:off x="481066" y="813884"/>
          <a:ext cx="3000000" cy="3000000"/>
        </p:xfrm>
        <a:graphic>
          <a:graphicData uri="http://schemas.openxmlformats.org/drawingml/2006/table">
            <a:tbl>
              <a:tblPr>
                <a:noFill/>
                <a:tableStyleId>{DAB9B7E7-A43A-4D2E-B312-CCB8F63433BE}</a:tableStyleId>
              </a:tblPr>
              <a:tblGrid>
                <a:gridCol w="4025400"/>
                <a:gridCol w="3870575"/>
              </a:tblGrid>
              <a:tr h="260675">
                <a:tc>
                  <a:txBody>
                    <a:bodyPr/>
                    <a:lstStyle/>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rgbClr val="000000"/>
                          </a:solidFill>
                          <a:latin typeface="Times New Roman"/>
                          <a:ea typeface="Times New Roman"/>
                          <a:cs typeface="Times New Roman"/>
                          <a:sym typeface="Times New Roman"/>
                        </a:rPr>
                        <a:t>Base Paper Methodology</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just">
                        <a:lnSpc>
                          <a:spcPct val="150000"/>
                        </a:lnSpc>
                        <a:spcBef>
                          <a:spcPts val="0"/>
                        </a:spcBef>
                        <a:spcAft>
                          <a:spcPts val="0"/>
                        </a:spcAft>
                        <a:buClr>
                          <a:srgbClr val="000000"/>
                        </a:buClr>
                        <a:buSzPts val="1200"/>
                        <a:buFont typeface="Arial"/>
                        <a:buNone/>
                      </a:pPr>
                      <a:r>
                        <a:rPr b="1" i="0" lang="en-US" sz="1200" u="none" cap="none" strike="noStrike">
                          <a:solidFill>
                            <a:srgbClr val="000000"/>
                          </a:solidFill>
                          <a:latin typeface="Times New Roman"/>
                          <a:ea typeface="Times New Roman"/>
                          <a:cs typeface="Times New Roman"/>
                          <a:sym typeface="Times New Roman"/>
                        </a:rPr>
                        <a:t>Our Improvement</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43225">
                <a:tc>
                  <a:txBody>
                    <a:bodyPr/>
                    <a:lstStyle/>
                    <a:p>
                      <a:pPr indent="0" lvl="0" marL="0" marR="0" rtl="0" algn="just">
                        <a:lnSpc>
                          <a:spcPct val="15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Provides local, model-agnostic explanations for individual predictions using input perturbations.</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just">
                        <a:lnSpc>
                          <a:spcPct val="15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Integrate LIME into a full interactive dashboard with both local and global explanations alongside model training and visualization.</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31075">
                <a:tc>
                  <a:txBody>
                    <a:bodyPr/>
                    <a:lstStyle/>
                    <a:p>
                      <a:pPr indent="0" lvl="0" marL="0" marR="0" rtl="0" algn="just">
                        <a:lnSpc>
                          <a:spcPct val="15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SHAP (Lundberg &amp; Lee, 2017) provides unified feature attribution but is primarily a library, not an educational tool.</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just">
                        <a:lnSpc>
                          <a:spcPct val="15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Use SHAP within a student-friendly dashboard providing visual and conceptual explanations for both global and local feature importance.</a:t>
                      </a:r>
                      <a:endParaRPr sz="1400" u="none" cap="none" strike="noStrike">
                        <a:latin typeface="Times New Roman"/>
                        <a:ea typeface="Times New Roman"/>
                        <a:cs typeface="Times New Roman"/>
                        <a:sym typeface="Times New Roman"/>
                      </a:endParaRPr>
                    </a:p>
                  </a:txBody>
                  <a:tcPr marT="45725" marB="45725" marR="91450" marL="9145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43225">
                <a:tc>
                  <a:txBody>
                    <a:bodyPr/>
                    <a:lstStyle/>
                    <a:p>
                      <a:pPr indent="0" lvl="0" marL="0" marR="0" rtl="0" algn="just">
                        <a:lnSpc>
                          <a:spcPct val="15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explAIner (Spinner et al., 2019) is a visual analytics framework for XAI, but research-oriented and complex for students.</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just">
                        <a:lnSpc>
                          <a:spcPct val="15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Adapt similar visual analytics ideas into a simplified, student-focused learning dashboard with what-if analysis and model comparison.</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43225">
                <a:tc>
                  <a:txBody>
                    <a:bodyPr/>
                    <a:lstStyle/>
                    <a:p>
                      <a:pPr indent="0" lvl="0" marL="0" marR="0" rtl="0" algn="just">
                        <a:lnSpc>
                          <a:spcPct val="15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Molnar (2019) covers interpretability methods comprehensively but is a reference guide with no interactive platform.</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just">
                        <a:lnSpc>
                          <a:spcPct val="150000"/>
                        </a:lnSpc>
                        <a:spcBef>
                          <a:spcPts val="0"/>
                        </a:spcBef>
                        <a:spcAft>
                          <a:spcPts val="0"/>
                        </a:spcAft>
                        <a:buClr>
                          <a:srgbClr val="000000"/>
                        </a:buClr>
                        <a:buSzPts val="1200"/>
                        <a:buFont typeface="Arial"/>
                        <a:buNone/>
                      </a:pPr>
                      <a:r>
                        <a:rPr lang="en-US" sz="1200" u="none" cap="none" strike="noStrike">
                          <a:latin typeface="Times New Roman"/>
                          <a:ea typeface="Times New Roman"/>
                          <a:cs typeface="Times New Roman"/>
                          <a:sym typeface="Times New Roman"/>
                        </a:rPr>
                        <a:t>Combine multiple interpretability techniques (SHAP, LIME, PDP, Feature Importance) into a single interactive learning system.</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3975">
                <a:tc>
                  <a:txBody>
                    <a:bodyPr/>
                    <a:lstStyle/>
                    <a:p>
                      <a:pPr indent="0" lvl="0" marL="0" marR="0" rtl="0" algn="just">
                        <a:lnSpc>
                          <a:spcPct val="150000"/>
                        </a:lnSpc>
                        <a:spcBef>
                          <a:spcPts val="0"/>
                        </a:spcBef>
                        <a:spcAft>
                          <a:spcPts val="0"/>
                        </a:spcAft>
                        <a:buClr>
                          <a:srgbClr val="000000"/>
                        </a:buClr>
                        <a:buSzPts val="1200"/>
                        <a:buFont typeface="Arial"/>
                        <a:buNone/>
                      </a:pPr>
                      <a:r>
                        <a:t/>
                      </a:r>
                      <a:endParaRPr sz="1200" u="none" cap="none" strike="noStrike">
                        <a:latin typeface="Times New Roman"/>
                        <a:ea typeface="Times New Roman"/>
                        <a:cs typeface="Times New Roman"/>
                        <a:sym typeface="Times New Roman"/>
                      </a:endParaRPr>
                    </a:p>
                  </a:txBody>
                  <a:tcPr marT="56750" marB="56750" marR="56750" marL="567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just">
                        <a:lnSpc>
                          <a:spcPct val="15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45725" marB="45725" marR="91450" marL="9145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ctrTitle"/>
          </p:nvPr>
        </p:nvSpPr>
        <p:spPr>
          <a:xfrm>
            <a:off x="215900" y="265113"/>
            <a:ext cx="9144000" cy="649287"/>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80555"/>
              <a:buNone/>
            </a:pPr>
            <a:r>
              <a:rPr lang="en-US"/>
              <a:t>Literature review:</a:t>
            </a:r>
            <a:endParaRPr/>
          </a:p>
        </p:txBody>
      </p:sp>
      <p:sp>
        <p:nvSpPr>
          <p:cNvPr id="105" name="Google Shape;105;p18"/>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6" name="Google Shape;106;p18"/>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rmAutofit/>
          </a:bodyPr>
          <a:lstStyle/>
          <a:p>
            <a:pPr indent="0" lvl="0" marL="146368" rtl="0" algn="just">
              <a:lnSpc>
                <a:spcPct val="150000"/>
              </a:lnSpc>
              <a:spcBef>
                <a:spcPts val="0"/>
              </a:spcBef>
              <a:spcAft>
                <a:spcPts val="0"/>
              </a:spcAft>
              <a:buClr>
                <a:srgbClr val="595959"/>
              </a:buClr>
              <a:buSzPts val="817"/>
              <a:buNone/>
            </a:pPr>
            <a:r>
              <a:rPr lang="en-US" sz="1400">
                <a:solidFill>
                  <a:schemeClr val="dk1"/>
                </a:solidFill>
              </a:rPr>
              <a:t>The literature review shows that Explainable AI (XAI) has become a critical area of research due to the black-box nature of modern ML models. Foundational works such as LIME and SHAP have established widely accepted methods for local and global explanations. Multiple surveys highlight that visualization plays a key role in making explanations understandable to users. Visual analytics frameworks demonstrate that combining interactive visualizations with explanation techniques significantly improves user trust and conceptual understanding. The literature also emphasizes that interpretability is a human-centered problem. Recent studies in educational contexts show that explainable dashboards help non-expert users understand and trust ML systems. Most existing XAI tools are designed for researchers, creating a clear gap for a simplified, student-friendly XAI dashboard that this project addresses.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ctrTitle"/>
          </p:nvPr>
        </p:nvSpPr>
        <p:spPr>
          <a:xfrm>
            <a:off x="120316" y="130969"/>
            <a:ext cx="91440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80555"/>
              <a:buNone/>
            </a:pPr>
            <a:r>
              <a:rPr lang="en-US">
                <a:solidFill>
                  <a:schemeClr val="dk1"/>
                </a:solidFill>
              </a:rPr>
              <a:t>Literature Review Summary</a:t>
            </a:r>
            <a:endParaRPr>
              <a:solidFill>
                <a:schemeClr val="dk1"/>
              </a:solidFill>
            </a:endParaRPr>
          </a:p>
        </p:txBody>
      </p:sp>
      <p:sp>
        <p:nvSpPr>
          <p:cNvPr id="112" name="Google Shape;112;p19"/>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aphicFrame>
        <p:nvGraphicFramePr>
          <p:cNvPr id="113" name="Google Shape;113;p19"/>
          <p:cNvGraphicFramePr/>
          <p:nvPr/>
        </p:nvGraphicFramePr>
        <p:xfrm>
          <a:off x="260348" y="890238"/>
          <a:ext cx="3000000" cy="3000000"/>
        </p:xfrm>
        <a:graphic>
          <a:graphicData uri="http://schemas.openxmlformats.org/drawingml/2006/table">
            <a:tbl>
              <a:tblPr bandRow="1" firstRow="1">
                <a:noFill/>
                <a:tableStyleId>{C108383A-7BE0-497E-914B-188FC33CC46F}</a:tableStyleId>
              </a:tblPr>
              <a:tblGrid>
                <a:gridCol w="959950"/>
                <a:gridCol w="865675"/>
                <a:gridCol w="1026500"/>
                <a:gridCol w="1031625"/>
                <a:gridCol w="952550"/>
                <a:gridCol w="867950"/>
                <a:gridCol w="1019900"/>
                <a:gridCol w="905125"/>
                <a:gridCol w="1076075"/>
              </a:tblGrid>
              <a:tr h="1653475">
                <a:tc>
                  <a:txBody>
                    <a:bodyPr/>
                    <a:lstStyle/>
                    <a:p>
                      <a:pPr indent="0" lvl="0" marL="0" marR="0" rtl="0" algn="ctr">
                        <a:lnSpc>
                          <a:spcPct val="100000"/>
                        </a:lnSpc>
                        <a:spcBef>
                          <a:spcPts val="0"/>
                        </a:spcBef>
                        <a:spcAft>
                          <a:spcPts val="0"/>
                        </a:spcAft>
                        <a:buNone/>
                      </a:pPr>
                      <a:r>
                        <a:rPr lang="en-US" sz="1200" u="none" cap="none" strike="noStrike">
                          <a:solidFill>
                            <a:srgbClr val="FFFF00"/>
                          </a:solidFill>
                          <a:latin typeface="Times New Roman"/>
                          <a:ea typeface="Times New Roman"/>
                          <a:cs typeface="Times New Roman"/>
                          <a:sym typeface="Times New Roman"/>
                        </a:rPr>
                        <a:t>Source</a:t>
                      </a:r>
                      <a:endParaRPr/>
                    </a:p>
                  </a:txBody>
                  <a:tcPr marT="45725" marB="45725" marR="91450" marL="91450"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Research Objective or Research Question</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Methodology</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Key Findings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Relevance to Project</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Techniques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Accuracy &amp; Performance Measures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Advantages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Disadvantages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r>
              <a:tr h="3829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latin typeface="Times New Roman"/>
                          <a:ea typeface="Times New Roman"/>
                          <a:cs typeface="Times New Roman"/>
                          <a:sym typeface="Times New Roman"/>
                        </a:rPr>
                        <a:t>Ribeiro et al. (2016) – LIME</a:t>
                      </a:r>
                      <a:endParaRPr/>
                    </a:p>
                  </a:txBody>
                  <a:tcPr marT="45725" marB="45725" marR="91450" marL="91450" anchor="ctr"/>
                </a:tc>
                <a:tc>
                  <a:txBody>
                    <a:bodyPr/>
                    <a:lstStyle/>
                    <a:p>
                      <a:pPr indent="0" lvl="0" marL="0" marR="0" rtl="0" algn="just">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Explain individual model predictions in a model-agnostic way</a:t>
                      </a:r>
                      <a:endParaRPr sz="1000" u="none" cap="none" strike="noStrike">
                        <a:latin typeface="Times New Roman"/>
                        <a:ea typeface="Times New Roman"/>
                        <a:cs typeface="Times New Roman"/>
                        <a:sym typeface="Times New Roman"/>
                      </a:endParaRPr>
                    </a:p>
                  </a:txBody>
                  <a:tcPr marT="45725" marB="45725" marR="91450" marL="91450" anchor="ctr"/>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Local surrogate models using input perturbations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Local linear explanations improve trust and model debugging</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Supports local explanation module in XAI dashboard</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LIME, surrogate models</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Focus on explanation fidelity, not model accuracy</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Model-agnostic, easy to apply to any classifier</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Local instability; approximation errors possible</a:t>
                      </a:r>
                      <a:endParaRPr/>
                    </a:p>
                  </a:txBody>
                  <a:tcPr marT="45725" marB="45725" marR="91450" marL="91450"/>
                </a:tc>
              </a:tr>
              <a:tr h="7646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Lundberg &amp; Lee (2017) – SHAP</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Unified framework for feature attribution (global and local)</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Game-theoretic Shapley values for feature attribution</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Consistent and theoretically sound feature explanations</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Core method for global and local explanations in dashboard</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SHAP, Shapley values</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Explanation consistency; strong theoretical guarantees</a:t>
                      </a:r>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Strong theoretical guarantees; both global and local views</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Computationally expensive for large datasets</a:t>
                      </a:r>
                      <a:endParaRPr/>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aphicFrame>
        <p:nvGraphicFramePr>
          <p:cNvPr id="119" name="Google Shape;119;p20"/>
          <p:cNvGraphicFramePr/>
          <p:nvPr/>
        </p:nvGraphicFramePr>
        <p:xfrm>
          <a:off x="215900" y="287216"/>
          <a:ext cx="3000000" cy="3000000"/>
        </p:xfrm>
        <a:graphic>
          <a:graphicData uri="http://schemas.openxmlformats.org/drawingml/2006/table">
            <a:tbl>
              <a:tblPr bandRow="1" firstRow="1">
                <a:noFill/>
                <a:tableStyleId>{C108383A-7BE0-497E-914B-188FC33CC46F}</a:tableStyleId>
              </a:tblPr>
              <a:tblGrid>
                <a:gridCol w="751650"/>
                <a:gridCol w="1056100"/>
                <a:gridCol w="1065625"/>
                <a:gridCol w="957800"/>
                <a:gridCol w="957800"/>
                <a:gridCol w="957800"/>
                <a:gridCol w="957800"/>
                <a:gridCol w="957800"/>
                <a:gridCol w="957800"/>
              </a:tblGrid>
              <a:tr h="1765300">
                <a:tc>
                  <a:txBody>
                    <a:bodyPr/>
                    <a:lstStyle/>
                    <a:p>
                      <a:pPr indent="0" lvl="0" marL="0" marR="0" rtl="0" algn="ctr">
                        <a:lnSpc>
                          <a:spcPct val="100000"/>
                        </a:lnSpc>
                        <a:spcBef>
                          <a:spcPts val="0"/>
                        </a:spcBef>
                        <a:spcAft>
                          <a:spcPts val="0"/>
                        </a:spcAft>
                        <a:buNone/>
                      </a:pPr>
                      <a:r>
                        <a:rPr lang="en-US" sz="1200" u="none" cap="none" strike="noStrike">
                          <a:solidFill>
                            <a:srgbClr val="FFFF00"/>
                          </a:solidFill>
                          <a:latin typeface="Times New Roman"/>
                          <a:ea typeface="Times New Roman"/>
                          <a:cs typeface="Times New Roman"/>
                          <a:sym typeface="Times New Roman"/>
                        </a:rPr>
                        <a:t>Source</a:t>
                      </a:r>
                      <a:endParaRPr/>
                    </a:p>
                  </a:txBody>
                  <a:tcPr marT="45725" marB="45725" marR="91450" marL="91450"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Research Objective or Research Question</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Methodology</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Key Findings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Relevance to Project</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Techniques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Accuracy &amp; Performance Measures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Advantages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Disadvantages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r>
              <a:tr h="816375">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Doshi-Velez &amp; Kim (2017)</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Define rigorous evaluation framework for interpretable ML</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Conceptual and evaluation frameworks for interpretability</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Interpretability must be task and user dependent</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Guides educational design of explanations in dashboard</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Conceptual XAI frameworks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Human-centered interpretability focus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Emphasizes user-need-driven explanation design</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Lacks practical system implementation</a:t>
                      </a:r>
                      <a:endParaRPr sz="1000" u="none" cap="none" strike="noStrike">
                        <a:latin typeface="Times New Roman"/>
                        <a:ea typeface="Times New Roman"/>
                        <a:cs typeface="Times New Roman"/>
                        <a:sym typeface="Times New Roman"/>
                      </a:endParaRPr>
                    </a:p>
                  </a:txBody>
                  <a:tcPr marT="45725" marB="45725" marR="91450" marL="91450"/>
                </a:tc>
              </a:tr>
              <a:tr h="816375">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Molnar (2019) – Interpretable ML Book</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Provide practical guide to interpretable machine learning</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Survey of PDP, Feature Importance, SHAP, LIME with examples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Visualization is critical for human understanding of models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Justifies multi-method dashboard combining several XAI tools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PDP, SHAP, LIME, Feature Importance</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Indirect focus; comprehensive coverage</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Comprehensive and accessible reference</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Not an interactive or integrated system</a:t>
                      </a:r>
                      <a:endParaRPr sz="1000" u="none" cap="none" strike="noStrike">
                        <a:latin typeface="Times New Roman"/>
                        <a:ea typeface="Times New Roman"/>
                        <a:cs typeface="Times New Roman"/>
                        <a:sym typeface="Times New Roman"/>
                      </a:endParaRPr>
                    </a:p>
                  </a:txBody>
                  <a:tcPr marT="45725" marB="45725" marR="91450" marL="91450"/>
                </a:tc>
              </a:tr>
              <a:tr h="816375">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Spinner et al. (2019) – explAIner</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Integrate XAI into a visual analytics workflow</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Interactive visual ML framework with model comparison</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Visual tools improve trust and model diagnosis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Supports interactive dashboard design for our project</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Visual XAI, Feature Importance</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Strong visual analytics capability</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Improves user trust and model understanding</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Research-oriented; complex for students</a:t>
                      </a:r>
                      <a:endParaRPr sz="1000" u="none" cap="none" strike="noStrike">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aphicFrame>
        <p:nvGraphicFramePr>
          <p:cNvPr id="125" name="Google Shape;125;p21"/>
          <p:cNvGraphicFramePr/>
          <p:nvPr/>
        </p:nvGraphicFramePr>
        <p:xfrm>
          <a:off x="215900" y="310662"/>
          <a:ext cx="3000000" cy="3000000"/>
        </p:xfrm>
        <a:graphic>
          <a:graphicData uri="http://schemas.openxmlformats.org/drawingml/2006/table">
            <a:tbl>
              <a:tblPr bandRow="1" firstRow="1">
                <a:noFill/>
                <a:tableStyleId>{C108383A-7BE0-497E-914B-188FC33CC46F}</a:tableStyleId>
              </a:tblPr>
              <a:tblGrid>
                <a:gridCol w="792275"/>
                <a:gridCol w="1015475"/>
                <a:gridCol w="1065625"/>
                <a:gridCol w="957800"/>
                <a:gridCol w="957800"/>
                <a:gridCol w="957800"/>
                <a:gridCol w="957800"/>
                <a:gridCol w="957800"/>
                <a:gridCol w="957800"/>
              </a:tblGrid>
              <a:tr h="1797200">
                <a:tc>
                  <a:txBody>
                    <a:bodyPr/>
                    <a:lstStyle/>
                    <a:p>
                      <a:pPr indent="0" lvl="0" marL="0" marR="0" rtl="0" algn="ctr">
                        <a:lnSpc>
                          <a:spcPct val="100000"/>
                        </a:lnSpc>
                        <a:spcBef>
                          <a:spcPts val="0"/>
                        </a:spcBef>
                        <a:spcAft>
                          <a:spcPts val="0"/>
                        </a:spcAft>
                        <a:buNone/>
                      </a:pPr>
                      <a:r>
                        <a:rPr lang="en-US" sz="1200" u="none" cap="none" strike="noStrike">
                          <a:solidFill>
                            <a:srgbClr val="FFFF00"/>
                          </a:solidFill>
                          <a:latin typeface="Times New Roman"/>
                          <a:ea typeface="Times New Roman"/>
                          <a:cs typeface="Times New Roman"/>
                          <a:sym typeface="Times New Roman"/>
                        </a:rPr>
                        <a:t>Source</a:t>
                      </a:r>
                      <a:endParaRPr/>
                    </a:p>
                  </a:txBody>
                  <a:tcPr marT="45725" marB="45725" marR="91450" marL="91450"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Research Objective or Research Question</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Methodology</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Key Findings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Relevance to Project</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Techniques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Accuracy &amp; Performance Measures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Advantages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Disadvantages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r>
              <a:tr h="8311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Chan et al. (2020) – MELODY</a:t>
                      </a:r>
                      <a:endParaRPr b="0" i="0" sz="1000" u="none" cap="none" strike="noStrike">
                        <a:solidFill>
                          <a:schemeClr val="accent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Aggregate local explanations into global model summaries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Information-theoretic aggregation of local explanations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Better global understanding from local explanations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Supports global vs local explanation views in dashboard</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Aggregated local explanations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Holistic model understanding</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Combines local into global for deeper understanding</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Limited direct interactivity</a:t>
                      </a:r>
                      <a:endParaRPr sz="1000" u="none" cap="none" strike="noStrike">
                        <a:latin typeface="Times New Roman"/>
                        <a:ea typeface="Times New Roman"/>
                        <a:cs typeface="Times New Roman"/>
                        <a:sym typeface="Times New Roman"/>
                      </a:endParaRPr>
                    </a:p>
                  </a:txBody>
                  <a:tcPr marT="45725" marB="45725" marR="91450" marL="91450"/>
                </a:tc>
              </a:tr>
              <a:tr h="8311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Kovalerchuk et al. (2020) – Visual XAI Survey</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Survey of visual and granular explainability methods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Visualization improves human interpretability of models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Visual methods enable broader human understanding of ML</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Supports advanced visualizations in dashboard design</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Visual XAI, Granular Methods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Broad coverage of visual techniques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Wide coverage of explainability visualization methods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No system implementation provided</a:t>
                      </a:r>
                      <a:endParaRPr sz="1000" u="none" cap="none" strike="noStrike">
                        <a:latin typeface="Times New Roman"/>
                        <a:ea typeface="Times New Roman"/>
                        <a:cs typeface="Times New Roman"/>
                        <a:sym typeface="Times New Roman"/>
                      </a:endParaRPr>
                    </a:p>
                  </a:txBody>
                  <a:tcPr marT="45725" marB="45725" marR="91450" marL="91450"/>
                </a:tc>
              </a:tr>
              <a:tr h="83115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XAI in Education (2022) – Survey</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Study role of XAI in educational analytics systems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Survey and conceptual models for educational XAI</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Explainability improves student learning and trust</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Supports educational goal of the XAI dashboard</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Educational XAI frameworks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Not accuracy-centric; education-focused</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Directly applicable to student-centered learning</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Limited to learning analytics context only</a:t>
                      </a:r>
                      <a:endParaRPr sz="1000" u="none" cap="none" strike="noStrike">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aphicFrame>
        <p:nvGraphicFramePr>
          <p:cNvPr id="131" name="Google Shape;131;p22"/>
          <p:cNvGraphicFramePr/>
          <p:nvPr/>
        </p:nvGraphicFramePr>
        <p:xfrm>
          <a:off x="165100" y="597876"/>
          <a:ext cx="3000000" cy="3000000"/>
        </p:xfrm>
        <a:graphic>
          <a:graphicData uri="http://schemas.openxmlformats.org/drawingml/2006/table">
            <a:tbl>
              <a:tblPr bandRow="1" firstRow="1">
                <a:noFill/>
                <a:tableStyleId>{C108383A-7BE0-497E-914B-188FC33CC46F}</a:tableStyleId>
              </a:tblPr>
              <a:tblGrid>
                <a:gridCol w="751650"/>
                <a:gridCol w="1056100"/>
                <a:gridCol w="1065625"/>
                <a:gridCol w="957800"/>
                <a:gridCol w="957800"/>
                <a:gridCol w="957800"/>
                <a:gridCol w="957800"/>
                <a:gridCol w="957800"/>
                <a:gridCol w="957800"/>
              </a:tblGrid>
              <a:tr h="1702200">
                <a:tc>
                  <a:txBody>
                    <a:bodyPr/>
                    <a:lstStyle/>
                    <a:p>
                      <a:pPr indent="0" lvl="0" marL="0" marR="0" rtl="0" algn="ctr">
                        <a:lnSpc>
                          <a:spcPct val="100000"/>
                        </a:lnSpc>
                        <a:spcBef>
                          <a:spcPts val="0"/>
                        </a:spcBef>
                        <a:spcAft>
                          <a:spcPts val="0"/>
                        </a:spcAft>
                        <a:buNone/>
                      </a:pPr>
                      <a:r>
                        <a:rPr lang="en-US" sz="1200" u="none" cap="none" strike="noStrike">
                          <a:solidFill>
                            <a:srgbClr val="FFFF00"/>
                          </a:solidFill>
                          <a:latin typeface="Times New Roman"/>
                          <a:ea typeface="Times New Roman"/>
                          <a:cs typeface="Times New Roman"/>
                          <a:sym typeface="Times New Roman"/>
                        </a:rPr>
                        <a:t>Source</a:t>
                      </a:r>
                      <a:endParaRPr/>
                    </a:p>
                  </a:txBody>
                  <a:tcPr marT="45725" marB="45725" marR="91450" marL="91450"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Research Objective or Research Question</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Methodology</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Key Findings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Relevance to Project</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Techniques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Accuracy &amp; Performance Measures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Advantages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c>
                  <a:txBody>
                    <a:bodyPr/>
                    <a:lstStyle/>
                    <a:p>
                      <a:pPr indent="0" lvl="0" marL="0" marR="0" rtl="0" algn="ctr">
                        <a:lnSpc>
                          <a:spcPct val="107000"/>
                        </a:lnSpc>
                        <a:spcBef>
                          <a:spcPts val="0"/>
                        </a:spcBef>
                        <a:spcAft>
                          <a:spcPts val="0"/>
                        </a:spcAft>
                        <a:buNone/>
                      </a:pPr>
                      <a:r>
                        <a:rPr b="1" lang="en-US" sz="1200" u="none" cap="none" strike="noStrike">
                          <a:solidFill>
                            <a:srgbClr val="FFFF00"/>
                          </a:solidFill>
                          <a:latin typeface="Times New Roman"/>
                          <a:ea typeface="Times New Roman"/>
                          <a:cs typeface="Times New Roman"/>
                          <a:sym typeface="Times New Roman"/>
                        </a:rPr>
                        <a:t>Disadvantages</a:t>
                      </a:r>
                      <a:endParaRPr sz="1200" u="none" cap="none" strike="noStrike">
                        <a:solidFill>
                          <a:srgbClr val="FFFF00"/>
                        </a:solidFill>
                        <a:latin typeface="Times New Roman"/>
                        <a:ea typeface="Times New Roman"/>
                        <a:cs typeface="Times New Roman"/>
                        <a:sym typeface="Times New Roman"/>
                      </a:endParaRPr>
                    </a:p>
                  </a:txBody>
                  <a:tcPr marT="9525" marB="9525" marR="9525" marL="9525" anchor="ctr"/>
                </a:tc>
              </a:tr>
              <a:tr h="7872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Khelifi et al. (2024) – EX-LAD</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Explainable dashboards for learning analytics</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Dashboard-based XAI for educational prediction systems</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Explainability improves interpretability in education</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Supports dashboard concept for multiple ML models</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Educational XAI, Dashboard</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Applicable to diverse educational data</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Strong applicability to student learning context</a:t>
                      </a:r>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latin typeface="Times New Roman"/>
                          <a:ea typeface="Times New Roman"/>
                          <a:cs typeface="Times New Roman"/>
                          <a:sym typeface="Times New Roman"/>
                        </a:rPr>
                        <a:t>Focused on educational prediction only</a:t>
                      </a:r>
                      <a:endParaRPr/>
                    </a:p>
                  </a:txBody>
                  <a:tcPr marT="45725" marB="45725" marR="91450" marL="91450"/>
                </a:tc>
              </a:tr>
              <a:tr h="787200">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Gunasekara &amp; Saarela (2024)– Review of XAI in Education</a:t>
                      </a:r>
                      <a:endParaRPr b="0" i="0"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Review explainability techniques in educational ML systems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Review paper surveying XAI methods in education</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Converts reviewed concepts into practical interactive workbench</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Supports practical implementation of reviewed XAI concepts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Survey of XAI methods</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Broad review coverage</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Comprehensive XAI method coverage for education</a:t>
                      </a:r>
                      <a:endParaRPr sz="10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latin typeface="Times New Roman"/>
                          <a:ea typeface="Times New Roman"/>
                          <a:cs typeface="Times New Roman"/>
                          <a:sym typeface="Times New Roman"/>
                        </a:rPr>
                        <a:t>No practical tool provided</a:t>
                      </a:r>
                      <a:endParaRPr sz="1000" u="none" cap="none" strike="noStrike">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ctrTitle"/>
          </p:nvPr>
        </p:nvSpPr>
        <p:spPr>
          <a:xfrm>
            <a:off x="246185" y="87313"/>
            <a:ext cx="9144000" cy="649287"/>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80555"/>
              <a:buNone/>
            </a:pPr>
            <a:r>
              <a:rPr lang="en-US"/>
              <a:t>Research Gaps</a:t>
            </a:r>
            <a:endParaRPr/>
          </a:p>
        </p:txBody>
      </p:sp>
      <p:sp>
        <p:nvSpPr>
          <p:cNvPr id="137" name="Google Shape;137;p23"/>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8" name="Google Shape;138;p23"/>
          <p:cNvSpPr txBox="1"/>
          <p:nvPr>
            <p:ph idx="1" type="body"/>
          </p:nvPr>
        </p:nvSpPr>
        <p:spPr>
          <a:xfrm>
            <a:off x="370254" y="831850"/>
            <a:ext cx="8257931" cy="3479800"/>
          </a:xfrm>
          <a:prstGeom prst="rect">
            <a:avLst/>
          </a:prstGeom>
          <a:noFill/>
          <a:ln>
            <a:noFill/>
          </a:ln>
        </p:spPr>
        <p:txBody>
          <a:bodyPr anchorCtr="0" anchor="t" bIns="91425" lIns="91425" spcFirstLastPara="1" rIns="91425" wrap="square" tIns="91425">
            <a:normAutofit fontScale="77500" lnSpcReduction="20000"/>
          </a:bodyPr>
          <a:lstStyle/>
          <a:p>
            <a:pPr indent="-342900" lvl="0" marL="342900" rtl="0" algn="just">
              <a:lnSpc>
                <a:spcPct val="150000"/>
              </a:lnSpc>
              <a:spcBef>
                <a:spcPts val="0"/>
              </a:spcBef>
              <a:spcAft>
                <a:spcPts val="0"/>
              </a:spcAft>
              <a:buClr>
                <a:schemeClr val="dk1"/>
              </a:buClr>
              <a:buSzPct val="100000"/>
              <a:buFont typeface="Arial"/>
              <a:buChar char="•"/>
            </a:pPr>
            <a:r>
              <a:rPr lang="en-US" sz="2000">
                <a:solidFill>
                  <a:schemeClr val="dk1"/>
                </a:solidFill>
                <a:latin typeface="Times New Roman"/>
                <a:ea typeface="Times New Roman"/>
                <a:cs typeface="Times New Roman"/>
                <a:sym typeface="Times New Roman"/>
              </a:rPr>
              <a:t>Most existing XAI work focuses on individual explanation methods (SHAP or LIME alone) rather than integrated, end-to-end learning platforms.</a:t>
            </a:r>
            <a:endParaRPr/>
          </a:p>
          <a:p>
            <a:pPr indent="-342900" lvl="0" marL="342900" rtl="0" algn="just">
              <a:lnSpc>
                <a:spcPct val="150000"/>
              </a:lnSpc>
              <a:spcBef>
                <a:spcPts val="0"/>
              </a:spcBef>
              <a:spcAft>
                <a:spcPts val="0"/>
              </a:spcAft>
              <a:buClr>
                <a:schemeClr val="dk1"/>
              </a:buClr>
              <a:buSzPct val="100000"/>
              <a:buFont typeface="Arial"/>
              <a:buChar char="•"/>
            </a:pPr>
            <a:r>
              <a:rPr lang="en-US" sz="2000">
                <a:solidFill>
                  <a:schemeClr val="dk1"/>
                </a:solidFill>
                <a:latin typeface="Times New Roman"/>
                <a:ea typeface="Times New Roman"/>
                <a:cs typeface="Times New Roman"/>
                <a:sym typeface="Times New Roman"/>
              </a:rPr>
              <a:t>Existing XAI tools are designed for researchers or industry users, making them complex and unsuitable for students.</a:t>
            </a:r>
            <a:endParaRPr/>
          </a:p>
          <a:p>
            <a:pPr indent="-342900" lvl="0" marL="342900" rtl="0" algn="just">
              <a:lnSpc>
                <a:spcPct val="150000"/>
              </a:lnSpc>
              <a:spcBef>
                <a:spcPts val="0"/>
              </a:spcBef>
              <a:spcAft>
                <a:spcPts val="0"/>
              </a:spcAft>
              <a:buClr>
                <a:schemeClr val="dk1"/>
              </a:buClr>
              <a:buSzPct val="100000"/>
              <a:buFont typeface="Arial"/>
              <a:buChar char="•"/>
            </a:pPr>
            <a:r>
              <a:rPr lang="en-US" sz="2000">
                <a:solidFill>
                  <a:schemeClr val="dk1"/>
                </a:solidFill>
                <a:latin typeface="Times New Roman"/>
                <a:ea typeface="Times New Roman"/>
                <a:cs typeface="Times New Roman"/>
                <a:sym typeface="Times New Roman"/>
              </a:rPr>
              <a:t>No unified system combines data preprocessing, model training, evaluation, and explainability in a single interactive environment.</a:t>
            </a:r>
            <a:endParaRPr/>
          </a:p>
          <a:p>
            <a:pPr indent="-342900" lvl="0" marL="342900" rtl="0" algn="just">
              <a:lnSpc>
                <a:spcPct val="150000"/>
              </a:lnSpc>
              <a:spcBef>
                <a:spcPts val="0"/>
              </a:spcBef>
              <a:spcAft>
                <a:spcPts val="0"/>
              </a:spcAft>
              <a:buClr>
                <a:schemeClr val="dk1"/>
              </a:buClr>
              <a:buSzPct val="100000"/>
              <a:buFont typeface="Arial"/>
              <a:buChar char="•"/>
            </a:pPr>
            <a:r>
              <a:rPr lang="en-US" sz="2000">
                <a:solidFill>
                  <a:schemeClr val="dk1"/>
                </a:solidFill>
                <a:latin typeface="Times New Roman"/>
                <a:ea typeface="Times New Roman"/>
                <a:cs typeface="Times New Roman"/>
                <a:sym typeface="Times New Roman"/>
              </a:rPr>
              <a:t>Visual analytics XAI systems exist but are research-oriented and difficult to use in educational settings.</a:t>
            </a:r>
            <a:endParaRPr/>
          </a:p>
          <a:p>
            <a:pPr indent="-342900" lvl="0" marL="342900" rtl="0" algn="just">
              <a:lnSpc>
                <a:spcPct val="150000"/>
              </a:lnSpc>
              <a:spcBef>
                <a:spcPts val="0"/>
              </a:spcBef>
              <a:spcAft>
                <a:spcPts val="0"/>
              </a:spcAft>
              <a:buClr>
                <a:schemeClr val="dk1"/>
              </a:buClr>
              <a:buSzPct val="100000"/>
              <a:buFont typeface="Arial"/>
              <a:buChar char="•"/>
            </a:pPr>
            <a:r>
              <a:rPr lang="en-US" sz="2000">
                <a:solidFill>
                  <a:schemeClr val="dk1"/>
                </a:solidFill>
                <a:latin typeface="Times New Roman"/>
                <a:ea typeface="Times New Roman"/>
                <a:cs typeface="Times New Roman"/>
                <a:sym typeface="Times New Roman"/>
              </a:rPr>
              <a:t>Limited work on student-friendly, interactive XAI dashboards that support intuitive learning and conceptual understanding of ML models.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ctrTitle"/>
          </p:nvPr>
        </p:nvSpPr>
        <p:spPr>
          <a:xfrm>
            <a:off x="322384" y="181708"/>
            <a:ext cx="9144000" cy="649287"/>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80555"/>
              <a:buNone/>
            </a:pPr>
            <a:r>
              <a:rPr lang="en-US"/>
              <a:t>Problem statement</a:t>
            </a:r>
            <a:endParaRPr/>
          </a:p>
        </p:txBody>
      </p:sp>
      <p:sp>
        <p:nvSpPr>
          <p:cNvPr id="144" name="Google Shape;144;p24"/>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5" name="Google Shape;145;p24"/>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rmAutofit fontScale="70000" lnSpcReduction="20000"/>
          </a:bodyPr>
          <a:lstStyle/>
          <a:p>
            <a:pPr indent="0" lvl="0" marL="146368" rtl="0" algn="just">
              <a:lnSpc>
                <a:spcPct val="170000"/>
              </a:lnSpc>
              <a:spcBef>
                <a:spcPts val="0"/>
              </a:spcBef>
              <a:spcAft>
                <a:spcPts val="0"/>
              </a:spcAft>
              <a:buClr>
                <a:srgbClr val="595959"/>
              </a:buClr>
              <a:buSzPct val="58332"/>
              <a:buNone/>
            </a:pPr>
            <a:r>
              <a:rPr lang="en-US"/>
              <a:t>Despite the rapid adoption of machine learning, most learning platforms focus mainly on model accuracy, offering little insight into how and why models make decisions. This lack of explainability causes ML models to appear as black boxes, making it difficult for students to connect theory with real-world behavior. </a:t>
            </a:r>
            <a:r>
              <a:rPr lang="en-US" sz="2200"/>
              <a:t>Although XAI methods like SHAP and LIME exist, they are rarely integrated into interactive, student-friendly learning environments.</a:t>
            </a:r>
            <a:r>
              <a:rPr lang="en-US"/>
              <a:t> This project proposes an integrated XAI dashboard that combines model training, evaluation, visualization, and explanation to improve conceptual understanding and hands-on ML learning for students.</a:t>
            </a:r>
            <a:endParaRPr>
              <a:solidFill>
                <a:srgbClr val="C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ctrTitle"/>
          </p:nvPr>
        </p:nvSpPr>
        <p:spPr>
          <a:xfrm>
            <a:off x="307418" y="260468"/>
            <a:ext cx="91440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80555"/>
              <a:buFont typeface="Arial"/>
              <a:buNone/>
            </a:pPr>
            <a:r>
              <a:rPr lang="en-US">
                <a:solidFill>
                  <a:schemeClr val="dk1"/>
                </a:solidFill>
              </a:rPr>
              <a:t>Objectives</a:t>
            </a:r>
            <a:endParaRPr/>
          </a:p>
        </p:txBody>
      </p:sp>
      <p:sp>
        <p:nvSpPr>
          <p:cNvPr id="151" name="Google Shape;151;p25"/>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sp>
        <p:nvSpPr>
          <p:cNvPr id="152" name="Google Shape;152;p25"/>
          <p:cNvSpPr txBox="1"/>
          <p:nvPr>
            <p:ph idx="1" type="body"/>
          </p:nvPr>
        </p:nvSpPr>
        <p:spPr>
          <a:xfrm>
            <a:off x="307418" y="909756"/>
            <a:ext cx="8529300" cy="3216900"/>
          </a:xfrm>
          <a:prstGeom prst="rect">
            <a:avLst/>
          </a:prstGeom>
          <a:noFill/>
          <a:ln>
            <a:noFill/>
          </a:ln>
        </p:spPr>
        <p:txBody>
          <a:bodyPr anchorCtr="0" anchor="ctr" bIns="45700" lIns="91425" spcFirstLastPara="1" rIns="91425" wrap="square" tIns="45700">
            <a:spAutoFit/>
          </a:bodyPr>
          <a:lstStyle/>
          <a:p>
            <a:pPr indent="-285750" lvl="0" marL="285750" marR="0" rtl="0" algn="just">
              <a:lnSpc>
                <a:spcPct val="150000"/>
              </a:lnSpc>
              <a:spcBef>
                <a:spcPts val="0"/>
              </a:spcBef>
              <a:spcAft>
                <a:spcPts val="0"/>
              </a:spcAft>
              <a:buClr>
                <a:schemeClr val="dk1"/>
              </a:buClr>
              <a:buSzPts val="1400"/>
              <a:buFont typeface="Times New Roman"/>
              <a:buChar char="•"/>
            </a:pPr>
            <a:r>
              <a:rPr i="0" lang="en-US" sz="1400" u="none" cap="none" strike="noStrike">
                <a:solidFill>
                  <a:schemeClr val="dk1"/>
                </a:solidFill>
                <a:latin typeface="Times New Roman"/>
                <a:ea typeface="Times New Roman"/>
                <a:cs typeface="Times New Roman"/>
                <a:sym typeface="Times New Roman"/>
              </a:rPr>
              <a:t>Develop an interactive XAI learning dashboard that allows students to upload datasets, train ML models, and explore explanations through a unified interface.</a:t>
            </a:r>
            <a:endParaRPr>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chemeClr val="dk1"/>
              </a:buClr>
              <a:buSzPts val="1400"/>
              <a:buFont typeface="Times New Roman"/>
              <a:buChar char="•"/>
            </a:pPr>
            <a:r>
              <a:rPr i="0" lang="en-US" sz="1400" u="none" cap="none" strike="noStrike">
                <a:solidFill>
                  <a:schemeClr val="dk1"/>
                </a:solidFill>
                <a:latin typeface="Times New Roman"/>
                <a:ea typeface="Times New Roman"/>
                <a:cs typeface="Times New Roman"/>
                <a:sym typeface="Times New Roman"/>
              </a:rPr>
              <a:t>Integrate both SHAP and LIME explanation techniques to provide global feature importance and local prediction explanations in a student-friendly manner.</a:t>
            </a:r>
            <a:endParaRPr>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chemeClr val="dk1"/>
              </a:buClr>
              <a:buSzPts val="1400"/>
              <a:buFont typeface="Times New Roman"/>
              <a:buChar char="•"/>
            </a:pPr>
            <a:r>
              <a:rPr i="0" lang="en-US" sz="1400" u="none" cap="none" strike="noStrike">
                <a:solidFill>
                  <a:schemeClr val="dk1"/>
                </a:solidFill>
                <a:latin typeface="Times New Roman"/>
                <a:ea typeface="Times New Roman"/>
                <a:cs typeface="Times New Roman"/>
                <a:sym typeface="Times New Roman"/>
              </a:rPr>
              <a:t>Support multiple ML models including Logistic Regression, Decision Tree, Random Forest, and SVM with configurable preprocessing and train-test splits.</a:t>
            </a:r>
            <a:endParaRPr>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chemeClr val="dk1"/>
              </a:buClr>
              <a:buSzPts val="1400"/>
              <a:buFont typeface="Times New Roman"/>
              <a:buChar char="•"/>
            </a:pPr>
            <a:r>
              <a:rPr i="0" lang="en-US" sz="1400" u="none" cap="none" strike="noStrike">
                <a:solidFill>
                  <a:schemeClr val="dk1"/>
                </a:solidFill>
                <a:latin typeface="Times New Roman"/>
                <a:ea typeface="Times New Roman"/>
                <a:cs typeface="Times New Roman"/>
                <a:sym typeface="Times New Roman"/>
              </a:rPr>
              <a:t>Provide interactive visualizations including 2D/3D feature plots, decision boundaries, confusion matrix, and what-if scenario simulation.</a:t>
            </a:r>
            <a:endParaRPr>
              <a:latin typeface="Times New Roman"/>
              <a:ea typeface="Times New Roman"/>
              <a:cs typeface="Times New Roman"/>
              <a:sym typeface="Times New Roman"/>
            </a:endParaRPr>
          </a:p>
          <a:p>
            <a:pPr indent="-285750" lvl="0" marL="285750" marR="0" rtl="0" algn="just">
              <a:lnSpc>
                <a:spcPct val="150000"/>
              </a:lnSpc>
              <a:spcBef>
                <a:spcPts val="0"/>
              </a:spcBef>
              <a:spcAft>
                <a:spcPts val="0"/>
              </a:spcAft>
              <a:buClr>
                <a:schemeClr val="dk1"/>
              </a:buClr>
              <a:buSzPts val="1400"/>
              <a:buFont typeface="Times New Roman"/>
              <a:buChar char="•"/>
            </a:pPr>
            <a:r>
              <a:rPr i="0" lang="en-US" sz="1400" u="none" cap="none" strike="noStrike">
                <a:solidFill>
                  <a:schemeClr val="dk1"/>
                </a:solidFill>
                <a:latin typeface="Times New Roman"/>
                <a:ea typeface="Times New Roman"/>
                <a:cs typeface="Times New Roman"/>
                <a:sym typeface="Times New Roman"/>
              </a:rPr>
              <a:t>Evaluate the effectiveness of the XAI dashboard in improving student conceptual understanding of ML model behavior and feature contributions.</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ctrTitle"/>
          </p:nvPr>
        </p:nvSpPr>
        <p:spPr>
          <a:xfrm>
            <a:off x="257908" y="175846"/>
            <a:ext cx="91440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80555"/>
              <a:buFont typeface="Arial"/>
              <a:buNone/>
            </a:pPr>
            <a:r>
              <a:rPr lang="en-US">
                <a:solidFill>
                  <a:schemeClr val="dk1"/>
                </a:solidFill>
              </a:rPr>
              <a:t>Proposed Solution</a:t>
            </a:r>
            <a:endParaRPr/>
          </a:p>
        </p:txBody>
      </p:sp>
      <p:sp>
        <p:nvSpPr>
          <p:cNvPr id="158" name="Google Shape;158;p26"/>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sp>
        <p:nvSpPr>
          <p:cNvPr id="159" name="Google Shape;159;p26"/>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rmAutofit fontScale="55000" lnSpcReduction="20000"/>
          </a:bodyPr>
          <a:lstStyle/>
          <a:p>
            <a:pPr indent="0" lvl="0" marL="228600" rtl="0" algn="just">
              <a:lnSpc>
                <a:spcPct val="170000"/>
              </a:lnSpc>
              <a:spcBef>
                <a:spcPts val="0"/>
              </a:spcBef>
              <a:spcAft>
                <a:spcPts val="0"/>
              </a:spcAft>
              <a:buClr>
                <a:schemeClr val="dk2"/>
              </a:buClr>
              <a:buSzPct val="136363"/>
              <a:buNone/>
            </a:pPr>
            <a:r>
              <a:rPr lang="en-US">
                <a:solidFill>
                  <a:schemeClr val="dk1"/>
                </a:solidFill>
                <a:latin typeface="Times New Roman"/>
                <a:ea typeface="Times New Roman"/>
                <a:cs typeface="Times New Roman"/>
                <a:sym typeface="Times New Roman"/>
              </a:rPr>
              <a:t>Our proposed system is an interactive Explainable AI (XAI) learning dashboard designed to help students understand how machine learning models make decisions. The system allows users to upload real-world datasets in CSV format and performs automatic preprocessing including handling missing values, encoding categorical variables, and feature scaling. Students can then select from multiple ML models such as Logistic Regression, Decision Tree, Random Forest, and SVM, and configure train-test splits to observe how these choices affect performance. A key component is the XAI layer, which integrates SHAP and LIME along with model-based interpretability methods to provide both global explanations (overall feature importance) and local explanations (feature contributions for individual predictions). The interactive dashboard presents evaluation metrics such as accuracy, precision, recall, F1-score, and confusion matrix in a student-friendly manner. Advanced visualizations including 2D/3D plots and decision boundaries are included to enhance conceptual understanding. The overall goal is to transform ML education from a formula-driven process into a visual, interactive, and explanation-driven learning experience.</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idx="1" type="body"/>
          </p:nvPr>
        </p:nvSpPr>
        <p:spPr>
          <a:xfrm>
            <a:off x="182685" y="234462"/>
            <a:ext cx="4020038" cy="4577861"/>
          </a:xfrm>
          <a:prstGeom prst="rect">
            <a:avLst/>
          </a:prstGeom>
          <a:noFill/>
          <a:ln>
            <a:noFill/>
          </a:ln>
        </p:spPr>
        <p:txBody>
          <a:bodyPr anchorCtr="0" anchor="t" bIns="91425" lIns="91425" spcFirstLastPara="1" rIns="91425" wrap="square" tIns="91425">
            <a:noAutofit/>
          </a:bodyPr>
          <a:lstStyle/>
          <a:p>
            <a:pPr indent="-228600" lvl="0" marL="457200" rtl="0" algn="l">
              <a:lnSpc>
                <a:spcPct val="150000"/>
              </a:lnSpc>
              <a:spcBef>
                <a:spcPts val="0"/>
              </a:spcBef>
              <a:spcAft>
                <a:spcPts val="0"/>
              </a:spcAft>
              <a:buSzPts val="1400"/>
              <a:buNone/>
            </a:pPr>
            <a:r>
              <a:rPr b="1" lang="en-US" sz="1600">
                <a:latin typeface="Times New Roman"/>
                <a:ea typeface="Times New Roman"/>
                <a:cs typeface="Times New Roman"/>
                <a:sym typeface="Times New Roman"/>
              </a:rPr>
              <a:t>Framework Overview</a:t>
            </a:r>
            <a:endParaRPr/>
          </a:p>
          <a:p>
            <a:pPr indent="-285750" lvl="0" marL="514350" rtl="0" algn="l">
              <a:lnSpc>
                <a:spcPct val="150000"/>
              </a:lnSpc>
              <a:spcBef>
                <a:spcPts val="0"/>
              </a:spcBef>
              <a:spcAft>
                <a:spcPts val="0"/>
              </a:spcAft>
              <a:buSzPts val="1400"/>
              <a:buFont typeface="Arial"/>
              <a:buChar char="•"/>
            </a:pPr>
            <a:r>
              <a:rPr b="1" lang="en-US" sz="1200">
                <a:latin typeface="Times New Roman"/>
                <a:ea typeface="Times New Roman"/>
                <a:cs typeface="Times New Roman"/>
                <a:sym typeface="Times New Roman"/>
              </a:rPr>
              <a:t>Data Input Layer</a:t>
            </a:r>
            <a:endParaRPr sz="1200">
              <a:latin typeface="Times New Roman"/>
              <a:ea typeface="Times New Roman"/>
              <a:cs typeface="Times New Roman"/>
              <a:sym typeface="Times New Roman"/>
            </a:endParaRPr>
          </a:p>
          <a:p>
            <a:pPr indent="-285750" lvl="1" marL="971550" rtl="0" algn="l">
              <a:lnSpc>
                <a:spcPct val="150000"/>
              </a:lnSpc>
              <a:spcBef>
                <a:spcPts val="0"/>
              </a:spcBef>
              <a:spcAft>
                <a:spcPts val="0"/>
              </a:spcAft>
              <a:buSzPts val="1400"/>
              <a:buFont typeface="Arial"/>
              <a:buChar char="•"/>
            </a:pPr>
            <a:r>
              <a:rPr lang="en-US" sz="1200">
                <a:latin typeface="Times New Roman"/>
                <a:ea typeface="Times New Roman"/>
                <a:cs typeface="Times New Roman"/>
                <a:sym typeface="Times New Roman"/>
              </a:rPr>
              <a:t>Students upload CSV datasets via the dashboard interface</a:t>
            </a:r>
            <a:endParaRPr/>
          </a:p>
          <a:p>
            <a:pPr indent="-285750" lvl="1" marL="971550" rtl="0" algn="l">
              <a:lnSpc>
                <a:spcPct val="150000"/>
              </a:lnSpc>
              <a:spcBef>
                <a:spcPts val="0"/>
              </a:spcBef>
              <a:spcAft>
                <a:spcPts val="0"/>
              </a:spcAft>
              <a:buSzPts val="1400"/>
              <a:buFont typeface="Arial"/>
              <a:buChar char="•"/>
            </a:pPr>
            <a:r>
              <a:rPr lang="en-US" sz="1200">
                <a:latin typeface="Times New Roman"/>
                <a:ea typeface="Times New Roman"/>
                <a:cs typeface="Times New Roman"/>
                <a:sym typeface="Times New Roman"/>
              </a:rPr>
              <a:t>Automatic preprocessing: missing values, encoding, scaling</a:t>
            </a:r>
            <a:endParaRPr/>
          </a:p>
          <a:p>
            <a:pPr indent="-285750" lvl="0" marL="514350" rtl="0" algn="l">
              <a:lnSpc>
                <a:spcPct val="150000"/>
              </a:lnSpc>
              <a:spcBef>
                <a:spcPts val="0"/>
              </a:spcBef>
              <a:spcAft>
                <a:spcPts val="0"/>
              </a:spcAft>
              <a:buSzPts val="1400"/>
              <a:buFont typeface="Arial"/>
              <a:buChar char="•"/>
            </a:pPr>
            <a:r>
              <a:rPr b="1" lang="en-US" sz="1200">
                <a:latin typeface="Times New Roman"/>
                <a:ea typeface="Times New Roman"/>
                <a:cs typeface="Times New Roman"/>
                <a:sym typeface="Times New Roman"/>
              </a:rPr>
              <a:t>Model Training Layer</a:t>
            </a:r>
            <a:endParaRPr sz="1200">
              <a:latin typeface="Times New Roman"/>
              <a:ea typeface="Times New Roman"/>
              <a:cs typeface="Times New Roman"/>
              <a:sym typeface="Times New Roman"/>
            </a:endParaRPr>
          </a:p>
          <a:p>
            <a:pPr indent="-285750" lvl="1" marL="971550" rtl="0" algn="l">
              <a:lnSpc>
                <a:spcPct val="150000"/>
              </a:lnSpc>
              <a:spcBef>
                <a:spcPts val="0"/>
              </a:spcBef>
              <a:spcAft>
                <a:spcPts val="0"/>
              </a:spcAft>
              <a:buSzPts val="1400"/>
              <a:buFont typeface="Arial"/>
              <a:buChar char="•"/>
            </a:pPr>
            <a:r>
              <a:rPr lang="en-US" sz="1200">
                <a:latin typeface="Times New Roman"/>
                <a:ea typeface="Times New Roman"/>
                <a:cs typeface="Times New Roman"/>
                <a:sym typeface="Times New Roman"/>
              </a:rPr>
              <a:t>Select ML model (Logistic Regression, Decision Tree, Random Forest, SVM)</a:t>
            </a:r>
            <a:endParaRPr/>
          </a:p>
          <a:p>
            <a:pPr indent="-285750" lvl="1" marL="971550" rtl="0" algn="l">
              <a:lnSpc>
                <a:spcPct val="150000"/>
              </a:lnSpc>
              <a:spcBef>
                <a:spcPts val="0"/>
              </a:spcBef>
              <a:spcAft>
                <a:spcPts val="0"/>
              </a:spcAft>
              <a:buSzPts val="1400"/>
              <a:buFont typeface="Arial"/>
              <a:buChar char="•"/>
            </a:pPr>
            <a:r>
              <a:rPr lang="en-US" sz="1200">
                <a:latin typeface="Times New Roman"/>
                <a:ea typeface="Times New Roman"/>
                <a:cs typeface="Times New Roman"/>
                <a:sym typeface="Times New Roman"/>
              </a:rPr>
              <a:t>Configure train-test split and train the selected model</a:t>
            </a:r>
            <a:endParaRPr/>
          </a:p>
          <a:p>
            <a:pPr indent="-285750" lvl="0" marL="514350" rtl="0" algn="l">
              <a:lnSpc>
                <a:spcPct val="150000"/>
              </a:lnSpc>
              <a:spcBef>
                <a:spcPts val="0"/>
              </a:spcBef>
              <a:spcAft>
                <a:spcPts val="0"/>
              </a:spcAft>
              <a:buSzPts val="1400"/>
              <a:buFont typeface="Arial"/>
              <a:buChar char="•"/>
            </a:pPr>
            <a:r>
              <a:rPr b="1" lang="en-US" sz="1200">
                <a:latin typeface="Times New Roman"/>
                <a:ea typeface="Times New Roman"/>
                <a:cs typeface="Times New Roman"/>
                <a:sym typeface="Times New Roman"/>
              </a:rPr>
              <a:t>Explanation Layer</a:t>
            </a:r>
            <a:endParaRPr sz="1200">
              <a:latin typeface="Times New Roman"/>
              <a:ea typeface="Times New Roman"/>
              <a:cs typeface="Times New Roman"/>
              <a:sym typeface="Times New Roman"/>
            </a:endParaRPr>
          </a:p>
          <a:p>
            <a:pPr indent="-285750" lvl="1" marL="971550" rtl="0" algn="l">
              <a:lnSpc>
                <a:spcPct val="150000"/>
              </a:lnSpc>
              <a:spcBef>
                <a:spcPts val="0"/>
              </a:spcBef>
              <a:spcAft>
                <a:spcPts val="0"/>
              </a:spcAft>
              <a:buSzPts val="1400"/>
              <a:buFont typeface="Arial"/>
              <a:buChar char="•"/>
            </a:pPr>
            <a:r>
              <a:rPr lang="en-US" sz="1200">
                <a:latin typeface="Times New Roman"/>
                <a:ea typeface="Times New Roman"/>
                <a:cs typeface="Times New Roman"/>
                <a:sym typeface="Times New Roman"/>
              </a:rPr>
              <a:t>SHAP for global feature importance and local attributions</a:t>
            </a:r>
            <a:endParaRPr/>
          </a:p>
          <a:p>
            <a:pPr indent="0" lvl="0" marL="914400" rtl="0" algn="l">
              <a:lnSpc>
                <a:spcPct val="150000"/>
              </a:lnSpc>
              <a:spcBef>
                <a:spcPts val="0"/>
              </a:spcBef>
              <a:spcAft>
                <a:spcPts val="0"/>
              </a:spcAft>
              <a:buNone/>
            </a:pPr>
            <a:r>
              <a:t/>
            </a:r>
            <a:endParaRPr/>
          </a:p>
        </p:txBody>
      </p:sp>
      <p:sp>
        <p:nvSpPr>
          <p:cNvPr id="165" name="Google Shape;165;p27"/>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166" name="Google Shape;166;p27"/>
          <p:cNvSpPr txBox="1"/>
          <p:nvPr/>
        </p:nvSpPr>
        <p:spPr>
          <a:xfrm>
            <a:off x="4452449" y="494791"/>
            <a:ext cx="4020038" cy="37524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600" u="none" cap="none" strike="noStrike">
                <a:solidFill>
                  <a:srgbClr val="000000"/>
                </a:solidFill>
                <a:latin typeface="Times New Roman"/>
                <a:ea typeface="Times New Roman"/>
                <a:cs typeface="Times New Roman"/>
                <a:sym typeface="Times New Roman"/>
              </a:rPr>
              <a:t>Novelty with respect to Base Paper</a:t>
            </a:r>
            <a:endParaRPr/>
          </a:p>
          <a:p>
            <a:pPr indent="-171450" lvl="0" marL="171450" marR="0" rtl="0" algn="l">
              <a:lnSpc>
                <a:spcPct val="150000"/>
              </a:lnSpc>
              <a:spcBef>
                <a:spcPts val="0"/>
              </a:spcBef>
              <a:spcAft>
                <a:spcPts val="0"/>
              </a:spcAft>
              <a:buClr>
                <a:srgbClr val="000000"/>
              </a:buClr>
              <a:buSzPts val="1200"/>
              <a:buFont typeface="Arial"/>
              <a:buChar char="•"/>
            </a:pPr>
            <a:r>
              <a:rPr b="1" i="0" lang="en-US" sz="1200" u="none" cap="none" strike="noStrike">
                <a:solidFill>
                  <a:srgbClr val="000000"/>
                </a:solidFill>
                <a:latin typeface="Times New Roman"/>
                <a:ea typeface="Times New Roman"/>
                <a:cs typeface="Times New Roman"/>
                <a:sym typeface="Times New Roman"/>
              </a:rPr>
              <a:t>Integrated XAI Platform:</a:t>
            </a:r>
            <a:br>
              <a:rPr b="0" i="0" lang="en-US" sz="1200" u="none" cap="none" strike="noStrike">
                <a:solidFill>
                  <a:srgbClr val="000000"/>
                </a:solidFill>
                <a:latin typeface="Times New Roman"/>
                <a:ea typeface="Times New Roman"/>
                <a:cs typeface="Times New Roman"/>
                <a:sym typeface="Times New Roman"/>
              </a:rPr>
            </a:br>
            <a:r>
              <a:rPr b="0" i="0" lang="en-US" sz="1200" u="none" cap="none" strike="noStrike">
                <a:solidFill>
                  <a:srgbClr val="000000"/>
                </a:solidFill>
                <a:latin typeface="Times New Roman"/>
                <a:ea typeface="Times New Roman"/>
                <a:cs typeface="Times New Roman"/>
                <a:sym typeface="Times New Roman"/>
              </a:rPr>
              <a:t>Unlike base papers that offer only standalone LIME or SHAP, our dashboard integrates both methods with full model training in one platform.</a:t>
            </a:r>
            <a:endParaRPr/>
          </a:p>
          <a:p>
            <a:pPr indent="-171450" lvl="0" marL="171450" marR="0" rtl="0" algn="l">
              <a:lnSpc>
                <a:spcPct val="150000"/>
              </a:lnSpc>
              <a:spcBef>
                <a:spcPts val="0"/>
              </a:spcBef>
              <a:spcAft>
                <a:spcPts val="0"/>
              </a:spcAft>
              <a:buClr>
                <a:srgbClr val="000000"/>
              </a:buClr>
              <a:buSzPts val="1200"/>
              <a:buFont typeface="Arial"/>
              <a:buChar char="•"/>
            </a:pPr>
            <a:r>
              <a:rPr b="1" i="0" lang="en-US" sz="1200" u="none" cap="none" strike="noStrike">
                <a:solidFill>
                  <a:srgbClr val="000000"/>
                </a:solidFill>
                <a:latin typeface="Times New Roman"/>
                <a:ea typeface="Times New Roman"/>
                <a:cs typeface="Times New Roman"/>
                <a:sym typeface="Times New Roman"/>
              </a:rPr>
              <a:t>Student-Centered Design:</a:t>
            </a:r>
            <a:br>
              <a:rPr b="0" i="0" lang="en-US" sz="1200" u="none" cap="none" strike="noStrike">
                <a:solidFill>
                  <a:srgbClr val="000000"/>
                </a:solidFill>
                <a:latin typeface="Times New Roman"/>
                <a:ea typeface="Times New Roman"/>
                <a:cs typeface="Times New Roman"/>
                <a:sym typeface="Times New Roman"/>
              </a:rPr>
            </a:br>
            <a:r>
              <a:rPr b="0" i="0" lang="en-US" sz="1200" u="none" cap="none" strike="noStrike">
                <a:solidFill>
                  <a:srgbClr val="000000"/>
                </a:solidFill>
                <a:latin typeface="Times New Roman"/>
                <a:ea typeface="Times New Roman"/>
                <a:cs typeface="Times New Roman"/>
                <a:sym typeface="Times New Roman"/>
              </a:rPr>
              <a:t>The base papers target researchers; our dashboard is simplified for students with guided workflows and friendly visualizations.</a:t>
            </a:r>
            <a:endParaRPr/>
          </a:p>
          <a:p>
            <a:pPr indent="-171450" lvl="0" marL="171450" marR="0" rtl="0" algn="l">
              <a:lnSpc>
                <a:spcPct val="150000"/>
              </a:lnSpc>
              <a:spcBef>
                <a:spcPts val="0"/>
              </a:spcBef>
              <a:spcAft>
                <a:spcPts val="0"/>
              </a:spcAft>
              <a:buClr>
                <a:srgbClr val="000000"/>
              </a:buClr>
              <a:buSzPts val="1200"/>
              <a:buFont typeface="Arial"/>
              <a:buChar char="•"/>
            </a:pPr>
            <a:r>
              <a:rPr b="1" i="0" lang="en-US" sz="1200" u="none" cap="none" strike="noStrike">
                <a:solidFill>
                  <a:srgbClr val="000000"/>
                </a:solidFill>
                <a:latin typeface="Times New Roman"/>
                <a:ea typeface="Times New Roman"/>
                <a:cs typeface="Times New Roman"/>
                <a:sym typeface="Times New Roman"/>
              </a:rPr>
              <a:t>What-If Scenario Analysis:</a:t>
            </a:r>
            <a:br>
              <a:rPr b="0" i="0" lang="en-US" sz="1200" u="none" cap="none" strike="noStrike">
                <a:solidFill>
                  <a:srgbClr val="000000"/>
                </a:solidFill>
                <a:latin typeface="Times New Roman"/>
                <a:ea typeface="Times New Roman"/>
                <a:cs typeface="Times New Roman"/>
                <a:sym typeface="Times New Roman"/>
              </a:rPr>
            </a:br>
            <a:r>
              <a:rPr b="0" i="0" lang="en-US" sz="1200" u="none" cap="none" strike="noStrike">
                <a:solidFill>
                  <a:srgbClr val="000000"/>
                </a:solidFill>
                <a:latin typeface="Times New Roman"/>
                <a:ea typeface="Times New Roman"/>
                <a:cs typeface="Times New Roman"/>
                <a:sym typeface="Times New Roman"/>
              </a:rPr>
              <a:t>Students can interactively change feature values to observe how predictions change, a feature not present in the base XAI libraries.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ctrTitle"/>
          </p:nvPr>
        </p:nvSpPr>
        <p:spPr>
          <a:xfrm>
            <a:off x="223715" y="-5116"/>
            <a:ext cx="62357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80555"/>
              <a:buFont typeface="Arial"/>
              <a:buNone/>
            </a:pPr>
            <a:r>
              <a:rPr lang="en-US">
                <a:solidFill>
                  <a:schemeClr val="dk1"/>
                </a:solidFill>
              </a:rPr>
              <a:t>Architecture Diagram</a:t>
            </a:r>
            <a:endParaRPr/>
          </a:p>
        </p:txBody>
      </p:sp>
      <p:sp>
        <p:nvSpPr>
          <p:cNvPr id="172" name="Google Shape;172;p28"/>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sp>
        <p:nvSpPr>
          <p:cNvPr id="173" name="Google Shape;173;p28"/>
          <p:cNvSpPr txBox="1"/>
          <p:nvPr/>
        </p:nvSpPr>
        <p:spPr>
          <a:xfrm>
            <a:off x="4803224" y="438898"/>
            <a:ext cx="3968400" cy="40251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15000"/>
              </a:lnSpc>
              <a:spcBef>
                <a:spcPts val="0"/>
              </a:spcBef>
              <a:spcAft>
                <a:spcPts val="0"/>
              </a:spcAft>
              <a:buClr>
                <a:srgbClr val="000000"/>
              </a:buClr>
              <a:buSzPts val="1400"/>
              <a:buFont typeface="Arial"/>
              <a:buChar char="•"/>
            </a:pPr>
            <a:r>
              <a:rPr b="1" i="0" lang="en-US" sz="1400" u="none" cap="none" strike="noStrike">
                <a:solidFill>
                  <a:srgbClr val="000000"/>
                </a:solidFill>
                <a:latin typeface="Times New Roman"/>
                <a:ea typeface="Times New Roman"/>
                <a:cs typeface="Times New Roman"/>
                <a:sym typeface="Times New Roman"/>
              </a:rPr>
              <a:t>Data Input Layer</a:t>
            </a:r>
            <a:endParaRPr/>
          </a:p>
          <a:p>
            <a:pPr indent="0" lvl="0" marL="0" marR="0" rtl="0" algn="just">
              <a:lnSpc>
                <a:spcPct val="115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Students upload CSV datasets; the system performs automatic preprocessing and forwards clean data for model training.</a:t>
            </a:r>
            <a:endParaRPr/>
          </a:p>
          <a:p>
            <a:pPr indent="-285750" lvl="0" marL="285750" marR="0" rtl="0" algn="just">
              <a:lnSpc>
                <a:spcPct val="115000"/>
              </a:lnSpc>
              <a:spcBef>
                <a:spcPts val="0"/>
              </a:spcBef>
              <a:spcAft>
                <a:spcPts val="0"/>
              </a:spcAft>
              <a:buClr>
                <a:srgbClr val="000000"/>
              </a:buClr>
              <a:buSzPts val="1400"/>
              <a:buFont typeface="Arial"/>
              <a:buChar char="•"/>
            </a:pPr>
            <a:r>
              <a:rPr b="1" i="0" lang="en-US" sz="1400" u="none" cap="none" strike="noStrike">
                <a:solidFill>
                  <a:srgbClr val="000000"/>
                </a:solidFill>
                <a:latin typeface="Times New Roman"/>
                <a:ea typeface="Times New Roman"/>
                <a:cs typeface="Times New Roman"/>
                <a:sym typeface="Times New Roman"/>
              </a:rPr>
              <a:t>Model Training Layer</a:t>
            </a:r>
            <a:endParaRPr/>
          </a:p>
          <a:p>
            <a:pPr indent="0" lvl="0" marL="0" marR="0" rtl="0" algn="just">
              <a:lnSpc>
                <a:spcPct val="115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User selects ML model and configures parameters; the system trains and evaluates the model, producing accuracy and performance metrics.</a:t>
            </a:r>
            <a:endParaRPr/>
          </a:p>
          <a:p>
            <a:pPr indent="-285750" lvl="0" marL="285750" marR="0" rtl="0" algn="just">
              <a:lnSpc>
                <a:spcPct val="115000"/>
              </a:lnSpc>
              <a:spcBef>
                <a:spcPts val="0"/>
              </a:spcBef>
              <a:spcAft>
                <a:spcPts val="0"/>
              </a:spcAft>
              <a:buClr>
                <a:srgbClr val="000000"/>
              </a:buClr>
              <a:buSzPts val="1400"/>
              <a:buFont typeface="Arial"/>
              <a:buChar char="•"/>
            </a:pPr>
            <a:r>
              <a:rPr b="1" i="0" lang="en-US" sz="1400" u="none" cap="none" strike="noStrike">
                <a:solidFill>
                  <a:srgbClr val="000000"/>
                </a:solidFill>
                <a:latin typeface="Times New Roman"/>
                <a:ea typeface="Times New Roman"/>
                <a:cs typeface="Times New Roman"/>
                <a:sym typeface="Times New Roman"/>
              </a:rPr>
              <a:t>Explanation Layer</a:t>
            </a:r>
            <a:endParaRPr/>
          </a:p>
          <a:p>
            <a:pPr indent="0" lvl="0" marL="0" marR="0" rtl="0" algn="just">
              <a:lnSpc>
                <a:spcPct val="115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SHAP and LIME generate global and local explanations; feature importance and prediction contributions are computed.</a:t>
            </a:r>
            <a:endParaRPr/>
          </a:p>
          <a:p>
            <a:pPr indent="-285750" lvl="0" marL="285750" marR="0" rtl="0" algn="just">
              <a:lnSpc>
                <a:spcPct val="115000"/>
              </a:lnSpc>
              <a:spcBef>
                <a:spcPts val="0"/>
              </a:spcBef>
              <a:spcAft>
                <a:spcPts val="0"/>
              </a:spcAft>
              <a:buClr>
                <a:srgbClr val="000000"/>
              </a:buClr>
              <a:buSzPts val="1400"/>
              <a:buFont typeface="Arial"/>
              <a:buChar char="•"/>
            </a:pPr>
            <a:r>
              <a:rPr b="1" i="0" lang="en-US" sz="1400" u="none" cap="none" strike="noStrike">
                <a:solidFill>
                  <a:srgbClr val="000000"/>
                </a:solidFill>
                <a:latin typeface="Times New Roman"/>
                <a:ea typeface="Times New Roman"/>
                <a:cs typeface="Times New Roman"/>
                <a:sym typeface="Times New Roman"/>
              </a:rPr>
              <a:t>Visualization and Output Layer</a:t>
            </a:r>
            <a:endParaRPr/>
          </a:p>
          <a:p>
            <a:pPr indent="0" lvl="0" marL="0" marR="0" rtl="0" algn="just">
              <a:lnSpc>
                <a:spcPct val="115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Interactive dashboard displays metrics, 2D/3D plots, decision boundaries, and what-if simulation results for student exploration.</a:t>
            </a:r>
            <a:endParaRPr/>
          </a:p>
        </p:txBody>
      </p:sp>
      <p:pic>
        <p:nvPicPr>
          <p:cNvPr id="174" name="Google Shape;174;p28"/>
          <p:cNvPicPr preferRelativeResize="0"/>
          <p:nvPr/>
        </p:nvPicPr>
        <p:blipFill>
          <a:blip r:embed="rId3">
            <a:alphaModFix/>
          </a:blip>
          <a:stretch>
            <a:fillRect/>
          </a:stretch>
        </p:blipFill>
        <p:spPr>
          <a:xfrm>
            <a:off x="223725" y="792125"/>
            <a:ext cx="4420951" cy="3781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ctrTitle"/>
          </p:nvPr>
        </p:nvSpPr>
        <p:spPr>
          <a:xfrm>
            <a:off x="317500" y="87313"/>
            <a:ext cx="91440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80555"/>
              <a:buNone/>
            </a:pPr>
            <a:r>
              <a:rPr lang="en-US"/>
              <a:t>Methodology / Algorithms</a:t>
            </a:r>
            <a:endParaRPr>
              <a:solidFill>
                <a:schemeClr val="dk1"/>
              </a:solidFill>
            </a:endParaRPr>
          </a:p>
        </p:txBody>
      </p:sp>
      <p:sp>
        <p:nvSpPr>
          <p:cNvPr id="180" name="Google Shape;180;p29"/>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sp>
        <p:nvSpPr>
          <p:cNvPr id="181" name="Google Shape;181;p29"/>
          <p:cNvSpPr txBox="1"/>
          <p:nvPr>
            <p:ph idx="1" type="body"/>
          </p:nvPr>
        </p:nvSpPr>
        <p:spPr>
          <a:xfrm>
            <a:off x="-1" y="829763"/>
            <a:ext cx="8311800" cy="4141800"/>
          </a:xfrm>
          <a:prstGeom prst="rect">
            <a:avLst/>
          </a:prstGeom>
          <a:noFill/>
          <a:ln>
            <a:noFill/>
          </a:ln>
        </p:spPr>
        <p:txBody>
          <a:bodyPr anchorCtr="0" anchor="t" bIns="91425" lIns="91425" spcFirstLastPara="1" rIns="91425" wrap="square" tIns="91425">
            <a:noAutofit/>
          </a:bodyPr>
          <a:lstStyle/>
          <a:p>
            <a:pPr indent="-228600" lvl="0" marL="457200" rtl="0" algn="just">
              <a:lnSpc>
                <a:spcPct val="115000"/>
              </a:lnSpc>
              <a:spcBef>
                <a:spcPts val="0"/>
              </a:spcBef>
              <a:spcAft>
                <a:spcPts val="0"/>
              </a:spcAft>
              <a:buSzPts val="1400"/>
              <a:buFont typeface="Arial"/>
              <a:buChar char="•"/>
            </a:pPr>
            <a:r>
              <a:rPr b="1" lang="en-US" sz="1300">
                <a:latin typeface="Times New Roman"/>
                <a:ea typeface="Times New Roman"/>
                <a:cs typeface="Times New Roman"/>
                <a:sym typeface="Times New Roman"/>
              </a:rPr>
              <a:t>Data Upload and Preprocessing</a:t>
            </a:r>
            <a:endParaRPr/>
          </a:p>
          <a:p>
            <a:pPr indent="-228600" lvl="0" marL="457200" rtl="0" algn="just">
              <a:lnSpc>
                <a:spcPct val="115000"/>
              </a:lnSpc>
              <a:spcBef>
                <a:spcPts val="0"/>
              </a:spcBef>
              <a:spcAft>
                <a:spcPts val="0"/>
              </a:spcAft>
              <a:buSzPts val="1400"/>
              <a:buNone/>
            </a:pPr>
            <a:r>
              <a:rPr lang="en-US" sz="1300">
                <a:latin typeface="Times New Roman"/>
                <a:ea typeface="Times New Roman"/>
                <a:cs typeface="Times New Roman"/>
                <a:sym typeface="Times New Roman"/>
              </a:rPr>
              <a:t>	Students upload real-world CSV datasets. The system performs automatic preprocessing including handling missing values, encoding categorical variables, and feature scaling. Feature selection is also supported, allowing users to observe how input choices affect model performance.</a:t>
            </a:r>
            <a:endParaRPr/>
          </a:p>
          <a:p>
            <a:pPr indent="-228600" lvl="0" marL="457200" rtl="0" algn="just">
              <a:lnSpc>
                <a:spcPct val="115000"/>
              </a:lnSpc>
              <a:spcBef>
                <a:spcPts val="0"/>
              </a:spcBef>
              <a:spcAft>
                <a:spcPts val="0"/>
              </a:spcAft>
              <a:buSzPts val="1400"/>
              <a:buFont typeface="Arial"/>
              <a:buChar char="•"/>
            </a:pPr>
            <a:r>
              <a:rPr b="1" lang="en-US" sz="1300">
                <a:latin typeface="Times New Roman"/>
                <a:ea typeface="Times New Roman"/>
                <a:cs typeface="Times New Roman"/>
                <a:sym typeface="Times New Roman"/>
              </a:rPr>
              <a:t>ML Model Training</a:t>
            </a:r>
            <a:endParaRPr/>
          </a:p>
          <a:p>
            <a:pPr indent="-228600" lvl="0" marL="457200" rtl="0" algn="just">
              <a:lnSpc>
                <a:spcPct val="115000"/>
              </a:lnSpc>
              <a:spcBef>
                <a:spcPts val="0"/>
              </a:spcBef>
              <a:spcAft>
                <a:spcPts val="0"/>
              </a:spcAft>
              <a:buSzPts val="1400"/>
              <a:buNone/>
            </a:pPr>
            <a:r>
              <a:rPr lang="en-US" sz="1300">
                <a:latin typeface="Times New Roman"/>
                <a:ea typeface="Times New Roman"/>
                <a:cs typeface="Times New Roman"/>
                <a:sym typeface="Times New Roman"/>
              </a:rPr>
              <a:t>	Students select from Logistic Regression, Decision Tree, Random Forest, or SVM. The system trains the chosen model on the preprocessed data and evaluates it using accuracy, precision, recall, F1-score, and confusion matrix.</a:t>
            </a:r>
            <a:endParaRPr/>
          </a:p>
          <a:p>
            <a:pPr indent="-228600" lvl="0" marL="457200" rtl="0" algn="just">
              <a:lnSpc>
                <a:spcPct val="115000"/>
              </a:lnSpc>
              <a:spcBef>
                <a:spcPts val="0"/>
              </a:spcBef>
              <a:spcAft>
                <a:spcPts val="0"/>
              </a:spcAft>
              <a:buSzPts val="1400"/>
              <a:buFont typeface="Arial"/>
              <a:buChar char="•"/>
            </a:pPr>
            <a:r>
              <a:rPr b="1" lang="en-US" sz="1300">
                <a:latin typeface="Times New Roman"/>
                <a:ea typeface="Times New Roman"/>
                <a:cs typeface="Times New Roman"/>
                <a:sym typeface="Times New Roman"/>
              </a:rPr>
              <a:t>XAI Explanation – SHAP and LIME</a:t>
            </a:r>
            <a:endParaRPr/>
          </a:p>
          <a:p>
            <a:pPr indent="-228600" lvl="0" marL="457200" rtl="0" algn="just">
              <a:lnSpc>
                <a:spcPct val="115000"/>
              </a:lnSpc>
              <a:spcBef>
                <a:spcPts val="0"/>
              </a:spcBef>
              <a:spcAft>
                <a:spcPts val="0"/>
              </a:spcAft>
              <a:buSzPts val="1400"/>
              <a:buNone/>
            </a:pPr>
            <a:r>
              <a:rPr lang="en-US" sz="1300">
                <a:latin typeface="Times New Roman"/>
                <a:ea typeface="Times New Roman"/>
                <a:cs typeface="Times New Roman"/>
                <a:sym typeface="Times New Roman"/>
              </a:rPr>
              <a:t>	SHAP generates global feature importance across the full dataset and local Shapley-value attributions for individual predictions. LIME approximates the model locally using perturbed samples to identify which features drive each specific prediction.</a:t>
            </a:r>
            <a:endParaRPr/>
          </a:p>
          <a:p>
            <a:pPr indent="-228600" lvl="0" marL="457200" rtl="0" algn="just">
              <a:lnSpc>
                <a:spcPct val="115000"/>
              </a:lnSpc>
              <a:spcBef>
                <a:spcPts val="0"/>
              </a:spcBef>
              <a:spcAft>
                <a:spcPts val="0"/>
              </a:spcAft>
              <a:buSzPts val="1400"/>
              <a:buFont typeface="Arial"/>
              <a:buChar char="•"/>
            </a:pPr>
            <a:r>
              <a:rPr b="1" lang="en-US" sz="1300">
                <a:latin typeface="Times New Roman"/>
                <a:ea typeface="Times New Roman"/>
                <a:cs typeface="Times New Roman"/>
                <a:sym typeface="Times New Roman"/>
              </a:rPr>
              <a:t>Visualization and What-If Analysis</a:t>
            </a:r>
            <a:endParaRPr/>
          </a:p>
          <a:p>
            <a:pPr indent="-228600" lvl="0" marL="457200" rtl="0" algn="just">
              <a:lnSpc>
                <a:spcPct val="115000"/>
              </a:lnSpc>
              <a:spcBef>
                <a:spcPts val="0"/>
              </a:spcBef>
              <a:spcAft>
                <a:spcPts val="0"/>
              </a:spcAft>
              <a:buSzPts val="1400"/>
              <a:buNone/>
            </a:pPr>
            <a:r>
              <a:rPr lang="en-US" sz="1300">
                <a:latin typeface="Times New Roman"/>
                <a:ea typeface="Times New Roman"/>
                <a:cs typeface="Times New Roman"/>
                <a:sym typeface="Times New Roman"/>
              </a:rPr>
              <a:t>	The dashboard renders 2D/3D feature plots, decision boundaries, and SHAP/LIME charts. Students can modify input feature values interactively and observe how the model's prediction changes, enabling deeper conceptual understanding.</a:t>
            </a:r>
            <a:endParaRPr sz="1300">
              <a:solidFill>
                <a:srgbClr val="595959"/>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ctrTitle"/>
          </p:nvPr>
        </p:nvSpPr>
        <p:spPr>
          <a:xfrm>
            <a:off x="82062" y="64449"/>
            <a:ext cx="91440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80555"/>
              <a:buFont typeface="Arial"/>
              <a:buNone/>
            </a:pPr>
            <a:r>
              <a:rPr lang="en-US">
                <a:solidFill>
                  <a:schemeClr val="dk1"/>
                </a:solidFill>
              </a:rPr>
              <a:t>Software and Hardware Requirements</a:t>
            </a:r>
            <a:endParaRPr/>
          </a:p>
        </p:txBody>
      </p:sp>
      <p:sp>
        <p:nvSpPr>
          <p:cNvPr id="187" name="Google Shape;187;p30"/>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aphicFrame>
        <p:nvGraphicFramePr>
          <p:cNvPr id="188" name="Google Shape;188;p30"/>
          <p:cNvGraphicFramePr/>
          <p:nvPr/>
        </p:nvGraphicFramePr>
        <p:xfrm>
          <a:off x="161802" y="737183"/>
          <a:ext cx="3000000" cy="3000000"/>
        </p:xfrm>
        <a:graphic>
          <a:graphicData uri="http://schemas.openxmlformats.org/drawingml/2006/table">
            <a:tbl>
              <a:tblPr bandRow="1" firstRow="1">
                <a:noFill/>
                <a:tableStyleId>{C108383A-7BE0-497E-914B-188FC33CC46F}</a:tableStyleId>
              </a:tblPr>
              <a:tblGrid>
                <a:gridCol w="4087825"/>
                <a:gridCol w="4087825"/>
              </a:tblGrid>
              <a:tr h="332250">
                <a:tc>
                  <a:txBody>
                    <a:bodyPr/>
                    <a:lstStyle/>
                    <a:p>
                      <a:pPr indent="0" lvl="0" marL="0" marR="0" rtl="0" algn="ctr">
                        <a:lnSpc>
                          <a:spcPct val="100000"/>
                        </a:lnSpc>
                        <a:spcBef>
                          <a:spcPts val="0"/>
                        </a:spcBef>
                        <a:spcAft>
                          <a:spcPts val="0"/>
                        </a:spcAft>
                        <a:buNone/>
                      </a:pPr>
                      <a:r>
                        <a:rPr lang="en-US" sz="1400" u="none" cap="none" strike="noStrike">
                          <a:solidFill>
                            <a:srgbClr val="FFFF00"/>
                          </a:solidFill>
                        </a:rPr>
                        <a:t>SOFTWARE</a:t>
                      </a:r>
                      <a:endParaRPr/>
                    </a:p>
                  </a:txBody>
                  <a:tcPr marT="45700" marB="45700" marR="91450" marL="91450" anchor="ctr">
                    <a:solidFill>
                      <a:schemeClr val="accent1"/>
                    </a:solidFill>
                  </a:tcPr>
                </a:tc>
                <a:tc>
                  <a:txBody>
                    <a:bodyPr/>
                    <a:lstStyle/>
                    <a:p>
                      <a:pPr indent="0" lvl="0" marL="0" marR="0" rtl="0" algn="ctr">
                        <a:lnSpc>
                          <a:spcPct val="100000"/>
                        </a:lnSpc>
                        <a:spcBef>
                          <a:spcPts val="0"/>
                        </a:spcBef>
                        <a:spcAft>
                          <a:spcPts val="0"/>
                        </a:spcAft>
                        <a:buNone/>
                      </a:pPr>
                      <a:r>
                        <a:rPr lang="en-US" sz="1400" u="none" cap="none" strike="noStrike">
                          <a:solidFill>
                            <a:srgbClr val="FFFF00"/>
                          </a:solidFill>
                        </a:rPr>
                        <a:t>HARDWARE</a:t>
                      </a:r>
                      <a:endParaRPr/>
                    </a:p>
                  </a:txBody>
                  <a:tcPr marT="45700" marB="45700" marR="91450" marL="91450" anchor="ctr"/>
                </a:tc>
              </a:tr>
              <a:tr h="3196400">
                <a:tc>
                  <a:txBody>
                    <a:bodyPr/>
                    <a:lstStyle/>
                    <a:p>
                      <a:pPr indent="0" lvl="0" marL="0" marR="0" rtl="0" algn="l">
                        <a:lnSpc>
                          <a:spcPct val="100000"/>
                        </a:lnSpc>
                        <a:spcBef>
                          <a:spcPts val="0"/>
                        </a:spcBef>
                        <a:spcAft>
                          <a:spcPts val="0"/>
                        </a:spcAft>
                        <a:buNone/>
                      </a:pPr>
                      <a:r>
                        <a:rPr b="1" lang="en-US" sz="1400" u="none" cap="none" strike="noStrike"/>
                        <a:t>Python</a:t>
                      </a:r>
                      <a:r>
                        <a:rPr lang="en-US" sz="1400" u="none" cap="none" strike="noStrike"/>
                        <a:t> – Core language for data processing, ML model training, XAI computation, and dashboard logic.</a:t>
                      </a:r>
                      <a:endParaRPr/>
                    </a:p>
                    <a:p>
                      <a:pPr indent="0" lvl="0" marL="0" marR="0" rtl="0" algn="l">
                        <a:lnSpc>
                          <a:spcPct val="100000"/>
                        </a:lnSpc>
                        <a:spcBef>
                          <a:spcPts val="0"/>
                        </a:spcBef>
                        <a:spcAft>
                          <a:spcPts val="0"/>
                        </a:spcAft>
                        <a:buNone/>
                      </a:pPr>
                      <a:r>
                        <a:rPr b="1" lang="en-US" sz="1400" u="none" cap="none" strike="noStrike"/>
                        <a:t>ML Libraries</a:t>
                      </a:r>
                      <a:r>
                        <a:rPr lang="en-US" sz="1400" u="none" cap="none" strike="noStrike"/>
                        <a:t> – Scikit-learn (ML models), SHAP (feature attribution), LIME (local explanations).</a:t>
                      </a:r>
                      <a:endParaRPr/>
                    </a:p>
                    <a:p>
                      <a:pPr indent="0" lvl="0" marL="0" marR="0" rtl="0" algn="l">
                        <a:lnSpc>
                          <a:spcPct val="100000"/>
                        </a:lnSpc>
                        <a:spcBef>
                          <a:spcPts val="0"/>
                        </a:spcBef>
                        <a:spcAft>
                          <a:spcPts val="0"/>
                        </a:spcAft>
                        <a:buNone/>
                      </a:pPr>
                      <a:r>
                        <a:rPr b="1" lang="en-US" sz="1400" u="none" cap="none" strike="noStrike"/>
                        <a:t>Streamlit / Flask</a:t>
                      </a:r>
                      <a:r>
                        <a:rPr lang="en-US" sz="1400" u="none" cap="none" strike="noStrike"/>
                        <a:t> – For building the interactive web-based student dashboard and UI.</a:t>
                      </a:r>
                      <a:endParaRPr/>
                    </a:p>
                    <a:p>
                      <a:pPr indent="0" lvl="0" marL="0" marR="0" rtl="0" algn="l">
                        <a:lnSpc>
                          <a:spcPct val="100000"/>
                        </a:lnSpc>
                        <a:spcBef>
                          <a:spcPts val="0"/>
                        </a:spcBef>
                        <a:spcAft>
                          <a:spcPts val="0"/>
                        </a:spcAft>
                        <a:buNone/>
                      </a:pPr>
                      <a:r>
                        <a:rPr b="1" lang="en-US" sz="1400" u="none" cap="none" strike="noStrike"/>
                        <a:t>Pandas &amp; NumPy</a:t>
                      </a:r>
                      <a:r>
                        <a:rPr lang="en-US" sz="1400" u="none" cap="none" strike="noStrike"/>
                        <a:t> – For data preprocessing, feature engineering, and matrix operations.</a:t>
                      </a:r>
                      <a:endParaRPr/>
                    </a:p>
                    <a:p>
                      <a:pPr indent="0" lvl="0" marL="0" marR="0" rtl="0" algn="l">
                        <a:lnSpc>
                          <a:spcPct val="100000"/>
                        </a:lnSpc>
                        <a:spcBef>
                          <a:spcPts val="0"/>
                        </a:spcBef>
                        <a:spcAft>
                          <a:spcPts val="0"/>
                        </a:spcAft>
                        <a:buNone/>
                      </a:pPr>
                      <a:r>
                        <a:rPr b="1" lang="en-US" sz="1400" u="none" cap="none" strike="noStrike"/>
                        <a:t>Matplotlib / Plotly</a:t>
                      </a:r>
                      <a:r>
                        <a:rPr lang="en-US" sz="1400" u="none" cap="none" strike="noStrike"/>
                        <a:t> – For 2D/3D visualizations, decision boundary plots, and SHAP/LIME charts.</a:t>
                      </a:r>
                      <a:endParaRPr/>
                    </a:p>
                    <a:p>
                      <a:pPr indent="0" lvl="0" marL="0" marR="0" rtl="0" algn="l">
                        <a:lnSpc>
                          <a:spcPct val="100000"/>
                        </a:lnSpc>
                        <a:spcBef>
                          <a:spcPts val="0"/>
                        </a:spcBef>
                        <a:spcAft>
                          <a:spcPts val="0"/>
                        </a:spcAft>
                        <a:buNone/>
                      </a:pPr>
                      <a:r>
                        <a:rPr b="1" lang="en-US" sz="1400" u="none" cap="none" strike="noStrike"/>
                        <a:t>Jupyter Notebook</a:t>
                      </a:r>
                      <a:r>
                        <a:rPr lang="en-US" sz="1400" u="none" cap="none" strike="noStrike"/>
                        <a:t> – For model development, experimentation, and documentation.</a:t>
                      </a:r>
                      <a:endParaRPr/>
                    </a:p>
                    <a:p>
                      <a:pPr indent="0" lvl="0" marL="0" marR="0" rtl="0" algn="l">
                        <a:lnSpc>
                          <a:spcPct val="100000"/>
                        </a:lnSpc>
                        <a:spcBef>
                          <a:spcPts val="0"/>
                        </a:spcBef>
                        <a:spcAft>
                          <a:spcPts val="0"/>
                        </a:spcAft>
                        <a:buNone/>
                      </a:pPr>
                      <a:r>
                        <a:rPr b="1" lang="en-US" sz="1400" u="none" cap="none" strike="noStrike"/>
                        <a:t>Windows / Linux / macOS</a:t>
                      </a:r>
                      <a:r>
                        <a:rPr lang="en-US" sz="1400" u="none" cap="none" strike="noStrike"/>
                        <a:t> – Cross-platform support for dashboard deployment and student use.</a:t>
                      </a:r>
                      <a:endParaRPr/>
                    </a:p>
                    <a:p>
                      <a:pPr indent="0" lvl="0" marL="0" marR="0" rtl="0" algn="l">
                        <a:lnSpc>
                          <a:spcPct val="100000"/>
                        </a:lnSpc>
                        <a:spcBef>
                          <a:spcPts val="0"/>
                        </a:spcBef>
                        <a:spcAft>
                          <a:spcPts val="0"/>
                        </a:spcAft>
                        <a:buNone/>
                      </a:pPr>
                      <a:r>
                        <a:t/>
                      </a:r>
                      <a:endParaRPr sz="1400" u="none" cap="none" strike="noStrike"/>
                    </a:p>
                  </a:txBody>
                  <a:tcPr marT="45700" marB="45700" marR="91450" marL="91450"/>
                </a:tc>
                <a:tc>
                  <a:txBody>
                    <a:bodyPr/>
                    <a:lstStyle/>
                    <a:p>
                      <a:pPr indent="0" lvl="0" marL="0" marR="0" rtl="0" algn="l">
                        <a:lnSpc>
                          <a:spcPct val="100000"/>
                        </a:lnSpc>
                        <a:spcBef>
                          <a:spcPts val="0"/>
                        </a:spcBef>
                        <a:spcAft>
                          <a:spcPts val="0"/>
                        </a:spcAft>
                        <a:buNone/>
                      </a:pPr>
                      <a:r>
                        <a:rPr b="1" lang="en-US" sz="1400" u="none" cap="none" strike="noStrike"/>
                        <a:t>Minimum 8GB RAM System / Laptop</a:t>
                      </a:r>
                      <a:r>
                        <a:rPr lang="en-US" sz="1400" u="none" cap="none" strike="noStrike"/>
                        <a:t> – Primary hardware for running the dashboard, training models, and displaying visualizations.</a:t>
                      </a:r>
                      <a:endParaRPr/>
                    </a:p>
                    <a:p>
                      <a:pPr indent="0" lvl="0" marL="0" marR="0" rtl="0" algn="l">
                        <a:lnSpc>
                          <a:spcPct val="100000"/>
                        </a:lnSpc>
                        <a:spcBef>
                          <a:spcPts val="0"/>
                        </a:spcBef>
                        <a:spcAft>
                          <a:spcPts val="0"/>
                        </a:spcAft>
                        <a:buNone/>
                      </a:pPr>
                      <a:r>
                        <a:rPr b="1" lang="en-US" sz="1400" u="none" cap="none" strike="noStrike"/>
                        <a:t>Web Browser</a:t>
                      </a:r>
                      <a:r>
                        <a:rPr lang="en-US" sz="1400" u="none" cap="none" strike="noStrike"/>
                        <a:t> – For accessing the Streamlit/Flask-based interactive XAI dashboard interface.</a:t>
                      </a:r>
                      <a:endParaRPr/>
                    </a:p>
                    <a:p>
                      <a:pPr indent="0" lvl="0" marL="0" marR="0" rtl="0" algn="l">
                        <a:lnSpc>
                          <a:spcPct val="100000"/>
                        </a:lnSpc>
                        <a:spcBef>
                          <a:spcPts val="0"/>
                        </a:spcBef>
                        <a:spcAft>
                          <a:spcPts val="0"/>
                        </a:spcAft>
                        <a:buNone/>
                      </a:pPr>
                      <a:r>
                        <a:rPr b="1" lang="en-US" sz="1400" u="none" cap="none" strike="noStrike"/>
                        <a:t>Dataset Storage (CSV Files)</a:t>
                      </a:r>
                      <a:r>
                        <a:rPr lang="en-US" sz="1400" u="none" cap="none" strike="noStrike"/>
                        <a:t> – Real-world CSV datasets uploaded by students for training and explanation.</a:t>
                      </a:r>
                      <a:endParaRPr/>
                    </a:p>
                    <a:p>
                      <a:pPr indent="0" lvl="0" marL="0" marR="0" rtl="0" algn="l">
                        <a:lnSpc>
                          <a:spcPct val="100000"/>
                        </a:lnSpc>
                        <a:spcBef>
                          <a:spcPts val="0"/>
                        </a:spcBef>
                        <a:spcAft>
                          <a:spcPts val="0"/>
                        </a:spcAft>
                        <a:buNone/>
                      </a:pPr>
                      <a:r>
                        <a:rPr b="1" lang="en-US" sz="1400" u="none" cap="none" strike="noStrike"/>
                        <a:t>GPU (Optional)</a:t>
                      </a:r>
                      <a:r>
                        <a:rPr lang="en-US" sz="1400" u="none" cap="none" strike="noStrike"/>
                        <a:t> – For accelerating model training on larger datasets if available.</a:t>
                      </a:r>
                      <a:endParaRPr/>
                    </a:p>
                    <a:p>
                      <a:pPr indent="0" lvl="0" marL="0" marR="0" rtl="0" algn="l">
                        <a:lnSpc>
                          <a:spcPct val="100000"/>
                        </a:lnSpc>
                        <a:spcBef>
                          <a:spcPts val="0"/>
                        </a:spcBef>
                        <a:spcAft>
                          <a:spcPts val="0"/>
                        </a:spcAft>
                        <a:buNone/>
                      </a:pPr>
                      <a:r>
                        <a:rPr b="1" lang="en-US" sz="1400" u="none" cap="none" strike="noStrike"/>
                        <a:t>Internet Connection</a:t>
                      </a:r>
                      <a:r>
                        <a:rPr lang="en-US" sz="1400" u="none" cap="none" strike="noStrike"/>
                        <a:t> – For accessing open datasets and library documentation during sessions.</a:t>
                      </a:r>
                      <a:endParaRPr/>
                    </a:p>
                    <a:p>
                      <a:pPr indent="0" lvl="0" marL="0" marR="0" rtl="0" algn="l">
                        <a:lnSpc>
                          <a:spcPct val="100000"/>
                        </a:lnSpc>
                        <a:spcBef>
                          <a:spcPts val="0"/>
                        </a:spcBef>
                        <a:spcAft>
                          <a:spcPts val="0"/>
                        </a:spcAft>
                        <a:buNone/>
                      </a:pPr>
                      <a:r>
                        <a:rPr b="1" lang="en-US" sz="1400" u="none" cap="none" strike="noStrike"/>
                        <a:t>Personal Computer</a:t>
                      </a:r>
                      <a:r>
                        <a:rPr lang="en-US" sz="1400" u="none" cap="none" strike="noStrike"/>
                        <a:t> – Required hardware specification for smooth dashboard and model training performance.</a:t>
                      </a:r>
                      <a:endParaRPr/>
                    </a:p>
                    <a:p>
                      <a:pPr indent="0" lvl="0" marL="0" marR="0" rtl="0" algn="l">
                        <a:lnSpc>
                          <a:spcPct val="100000"/>
                        </a:lnSpc>
                        <a:spcBef>
                          <a:spcPts val="0"/>
                        </a:spcBef>
                        <a:spcAft>
                          <a:spcPts val="0"/>
                        </a:spcAft>
                        <a:buNone/>
                      </a:pPr>
                      <a:r>
                        <a:t/>
                      </a:r>
                      <a:endParaRPr sz="1400" u="none" cap="none" strike="noStrike"/>
                    </a:p>
                  </a:txBody>
                  <a:tcPr marT="45700" marB="45700" marR="91450" marL="9145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ctrTitle"/>
          </p:nvPr>
        </p:nvSpPr>
        <p:spPr>
          <a:xfrm>
            <a:off x="87923" y="211016"/>
            <a:ext cx="91440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80555"/>
              <a:buNone/>
            </a:pPr>
            <a:r>
              <a:rPr lang="en-US"/>
              <a:t>Datasets Details</a:t>
            </a:r>
            <a:endParaRPr/>
          </a:p>
        </p:txBody>
      </p:sp>
      <p:sp>
        <p:nvSpPr>
          <p:cNvPr id="194" name="Google Shape;194;p31"/>
          <p:cNvSpPr txBox="1"/>
          <p:nvPr>
            <p:ph idx="1" type="body"/>
          </p:nvPr>
        </p:nvSpPr>
        <p:spPr>
          <a:xfrm>
            <a:off x="165101" y="914400"/>
            <a:ext cx="4406900" cy="3479800"/>
          </a:xfrm>
          <a:prstGeom prst="rect">
            <a:avLst/>
          </a:prstGeom>
          <a:noFill/>
          <a:ln>
            <a:noFill/>
          </a:ln>
        </p:spPr>
        <p:txBody>
          <a:bodyPr anchorCtr="0" anchor="t" bIns="91425" lIns="91425" spcFirstLastPara="1" rIns="91425" wrap="square" tIns="91425">
            <a:noAutofit/>
          </a:bodyPr>
          <a:lstStyle/>
          <a:p>
            <a:pPr indent="-285750" lvl="0" marL="285750" rtl="0" algn="just">
              <a:lnSpc>
                <a:spcPct val="150000"/>
              </a:lnSpc>
              <a:spcBef>
                <a:spcPts val="0"/>
              </a:spcBef>
              <a:spcAft>
                <a:spcPts val="0"/>
              </a:spcAft>
              <a:buSzPts val="1400"/>
              <a:buFont typeface="Noto Sans Symbols"/>
              <a:buChar char="❑"/>
            </a:pPr>
            <a:r>
              <a:rPr lang="en-US" sz="1400">
                <a:latin typeface="Times New Roman"/>
                <a:ea typeface="Times New Roman"/>
                <a:cs typeface="Times New Roman"/>
                <a:sym typeface="Times New Roman"/>
              </a:rPr>
              <a:t>Iris Dataset (UCI Machine Learning Repository)</a:t>
            </a:r>
            <a:endParaRPr/>
          </a:p>
          <a:p>
            <a:pPr indent="-171450" lvl="1" marL="628650" rtl="0" algn="l">
              <a:lnSpc>
                <a:spcPct val="150000"/>
              </a:lnSpc>
              <a:spcBef>
                <a:spcPts val="0"/>
              </a:spcBef>
              <a:spcAft>
                <a:spcPts val="0"/>
              </a:spcAft>
              <a:buSzPts val="1400"/>
              <a:buFont typeface="Noto Sans Symbols"/>
              <a:buChar char="▪"/>
            </a:pPr>
            <a:r>
              <a:rPr lang="en-US" sz="1200">
                <a:latin typeface="Times New Roman"/>
                <a:ea typeface="Times New Roman"/>
                <a:cs typeface="Times New Roman"/>
                <a:sym typeface="Times New Roman"/>
              </a:rPr>
              <a:t>150 samples, 4 features, 3 classes</a:t>
            </a:r>
            <a:br>
              <a:rPr lang="en-US" sz="1200">
                <a:latin typeface="Times New Roman"/>
                <a:ea typeface="Times New Roman"/>
                <a:cs typeface="Times New Roman"/>
                <a:sym typeface="Times New Roman"/>
              </a:rPr>
            </a:br>
            <a:r>
              <a:rPr lang="en-US" sz="1200">
                <a:latin typeface="Times New Roman"/>
                <a:ea typeface="Times New Roman"/>
                <a:cs typeface="Times New Roman"/>
                <a:sym typeface="Times New Roman"/>
              </a:rPr>
              <a:t>Used for classification demonstration and explanation</a:t>
            </a:r>
            <a:endParaRPr/>
          </a:p>
          <a:p>
            <a:pPr indent="-285750" lvl="0" marL="285750" rtl="0" algn="just">
              <a:lnSpc>
                <a:spcPct val="150000"/>
              </a:lnSpc>
              <a:spcBef>
                <a:spcPts val="0"/>
              </a:spcBef>
              <a:spcAft>
                <a:spcPts val="0"/>
              </a:spcAft>
              <a:buSzPts val="1400"/>
              <a:buFont typeface="Noto Sans Symbols"/>
              <a:buChar char="❑"/>
            </a:pPr>
            <a:r>
              <a:rPr lang="en-US" sz="1400">
                <a:latin typeface="Times New Roman"/>
                <a:ea typeface="Times New Roman"/>
                <a:cs typeface="Times New Roman"/>
                <a:sym typeface="Times New Roman"/>
              </a:rPr>
              <a:t>Titanic Dataset (Kaggle)</a:t>
            </a:r>
            <a:endParaRPr/>
          </a:p>
          <a:p>
            <a:pPr indent="-285750" lvl="1" marL="742950" rtl="0" algn="just">
              <a:lnSpc>
                <a:spcPct val="150000"/>
              </a:lnSpc>
              <a:spcBef>
                <a:spcPts val="0"/>
              </a:spcBef>
              <a:spcAft>
                <a:spcPts val="0"/>
              </a:spcAft>
              <a:buSzPts val="1400"/>
              <a:buFont typeface="Noto Sans Symbols"/>
              <a:buChar char="▪"/>
            </a:pPr>
            <a:r>
              <a:rPr lang="en-US" sz="1200">
                <a:latin typeface="Times New Roman"/>
                <a:ea typeface="Times New Roman"/>
                <a:cs typeface="Times New Roman"/>
                <a:sym typeface="Times New Roman"/>
              </a:rPr>
              <a:t>891 training samples, 12 features</a:t>
            </a:r>
            <a:endParaRPr/>
          </a:p>
          <a:p>
            <a:pPr indent="-196850" lvl="1" marL="742950" rtl="0" algn="just">
              <a:lnSpc>
                <a:spcPct val="150000"/>
              </a:lnSpc>
              <a:spcBef>
                <a:spcPts val="0"/>
              </a:spcBef>
              <a:spcAft>
                <a:spcPts val="0"/>
              </a:spcAft>
              <a:buSzPts val="1400"/>
              <a:buFont typeface="Noto Sans Symbols"/>
              <a:buNone/>
            </a:pPr>
            <a:r>
              <a:t/>
            </a:r>
            <a:endParaRPr b="1" sz="1200">
              <a:latin typeface="Times New Roman"/>
              <a:ea typeface="Times New Roman"/>
              <a:cs typeface="Times New Roman"/>
              <a:sym typeface="Times New Roman"/>
            </a:endParaRPr>
          </a:p>
          <a:p>
            <a:pPr indent="-171450" lvl="1" marL="628650" rtl="0" algn="l">
              <a:lnSpc>
                <a:spcPct val="150000"/>
              </a:lnSpc>
              <a:spcBef>
                <a:spcPts val="0"/>
              </a:spcBef>
              <a:spcAft>
                <a:spcPts val="0"/>
              </a:spcAft>
              <a:buSzPts val="1400"/>
              <a:buFont typeface="Noto Sans Symbols"/>
              <a:buChar char="❖"/>
            </a:pPr>
            <a:r>
              <a:rPr b="1" lang="en-US" sz="1200"/>
              <a:t>Usage in Project:</a:t>
            </a:r>
            <a:br>
              <a:rPr lang="en-US" sz="1200"/>
            </a:br>
            <a:r>
              <a:rPr lang="en-US" sz="1200"/>
              <a:t>Used for binary classification and feature importance exploration.</a:t>
            </a:r>
            <a:endParaRPr/>
          </a:p>
          <a:p>
            <a:pPr indent="0" lvl="1" marL="457200" rtl="0" algn="just">
              <a:lnSpc>
                <a:spcPct val="150000"/>
              </a:lnSpc>
              <a:spcBef>
                <a:spcPts val="0"/>
              </a:spcBef>
              <a:spcAft>
                <a:spcPts val="0"/>
              </a:spcAft>
              <a:buSzPts val="1400"/>
              <a:buNone/>
            </a:pPr>
            <a:r>
              <a:t/>
            </a:r>
            <a:endParaRPr sz="1200">
              <a:latin typeface="Times New Roman"/>
              <a:ea typeface="Times New Roman"/>
              <a:cs typeface="Times New Roman"/>
              <a:sym typeface="Times New Roman"/>
            </a:endParaRPr>
          </a:p>
        </p:txBody>
      </p:sp>
      <p:sp>
        <p:nvSpPr>
          <p:cNvPr id="195" name="Google Shape;195;p31"/>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sp>
        <p:nvSpPr>
          <p:cNvPr id="196" name="Google Shape;196;p31"/>
          <p:cNvSpPr txBox="1"/>
          <p:nvPr/>
        </p:nvSpPr>
        <p:spPr>
          <a:xfrm>
            <a:off x="4572000" y="257906"/>
            <a:ext cx="3616569" cy="4577985"/>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Typical Dataset Attributes</a:t>
            </a:r>
            <a:endParaRPr/>
          </a:p>
          <a:p>
            <a:pPr indent="-285750" lvl="0" marL="285750" marR="0" rtl="0" algn="just">
              <a:lnSpc>
                <a:spcPct val="15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Numerical Features:</a:t>
            </a:r>
            <a:endParaRPr/>
          </a:p>
          <a:p>
            <a:pPr indent="-285750" lvl="5"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Age</a:t>
            </a:r>
            <a:endParaRPr/>
          </a:p>
          <a:p>
            <a:pPr indent="-285750" lvl="5"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Income</a:t>
            </a:r>
            <a:endParaRPr/>
          </a:p>
          <a:p>
            <a:pPr indent="-285750" lvl="5"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Score</a:t>
            </a:r>
            <a:endParaRPr/>
          </a:p>
          <a:p>
            <a:pPr indent="-285750" lvl="5"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Count</a:t>
            </a:r>
            <a:endParaRPr/>
          </a:p>
          <a:p>
            <a:pPr indent="-285750" lvl="5"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Rate</a:t>
            </a:r>
            <a:endParaRPr/>
          </a:p>
          <a:p>
            <a:pPr indent="-285750" lvl="5"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Value</a:t>
            </a:r>
            <a:endParaRPr/>
          </a:p>
          <a:p>
            <a:pPr indent="-285750" lvl="0" marL="285750" marR="0" rtl="0" algn="just">
              <a:lnSpc>
                <a:spcPct val="15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Categorical Features:</a:t>
            </a:r>
            <a:endParaRPr/>
          </a:p>
          <a:p>
            <a:pPr indent="-285750" lvl="0"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Gender</a:t>
            </a:r>
            <a:endParaRPr/>
          </a:p>
          <a:p>
            <a:pPr indent="-285750" lvl="0"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Class / Label</a:t>
            </a:r>
            <a:endParaRPr/>
          </a:p>
          <a:p>
            <a:pPr indent="-285750" lvl="0"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Category</a:t>
            </a:r>
            <a:endParaRPr/>
          </a:p>
          <a:p>
            <a:pPr indent="-285750" lvl="0"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Status</a:t>
            </a:r>
            <a:endParaRPr/>
          </a:p>
          <a:p>
            <a:pPr indent="-285750" lvl="0" marL="514350" marR="0" rtl="0" algn="just">
              <a:lnSpc>
                <a:spcPct val="15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Times New Roman"/>
                <a:ea typeface="Times New Roman"/>
                <a:cs typeface="Times New Roman"/>
                <a:sym typeface="Times New Roman"/>
              </a:rPr>
              <a:t>Type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nvSpPr>
        <p:spPr>
          <a:xfrm>
            <a:off x="1655719" y="4318"/>
            <a:ext cx="9144000" cy="539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Module connectivity diagram</a:t>
            </a:r>
            <a:endParaRPr b="0" i="0" sz="700" u="none" cap="none" strike="noStrike">
              <a:solidFill>
                <a:srgbClr val="000000"/>
              </a:solidFill>
              <a:latin typeface="Times New Roman"/>
              <a:ea typeface="Times New Roman"/>
              <a:cs typeface="Times New Roman"/>
              <a:sym typeface="Times New Roman"/>
            </a:endParaRPr>
          </a:p>
        </p:txBody>
      </p:sp>
      <p:sp>
        <p:nvSpPr>
          <p:cNvPr id="202" name="Google Shape;202;p32"/>
          <p:cNvSpPr txBox="1"/>
          <p:nvPr/>
        </p:nvSpPr>
        <p:spPr>
          <a:xfrm>
            <a:off x="165100" y="914400"/>
            <a:ext cx="8763000" cy="34797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15000"/>
              </a:lnSpc>
              <a:spcBef>
                <a:spcPts val="0"/>
              </a:spcBef>
              <a:spcAft>
                <a:spcPts val="0"/>
              </a:spcAft>
              <a:buClr>
                <a:srgbClr val="595959"/>
              </a:buClr>
              <a:buSzPts val="1800"/>
              <a:buFont typeface="Noto Sans Symbols"/>
              <a:buNone/>
            </a:pPr>
            <a:r>
              <a:t/>
            </a:r>
            <a:endParaRPr b="0" i="0" sz="1400" u="none" cap="none" strike="noStrike">
              <a:solidFill>
                <a:srgbClr val="FF0000"/>
              </a:solidFill>
              <a:latin typeface="Arial"/>
              <a:ea typeface="Arial"/>
              <a:cs typeface="Arial"/>
              <a:sym typeface="Arial"/>
            </a:endParaRPr>
          </a:p>
        </p:txBody>
      </p:sp>
      <p:pic>
        <p:nvPicPr>
          <p:cNvPr id="203" name="Google Shape;203;p32"/>
          <p:cNvPicPr preferRelativeResize="0"/>
          <p:nvPr/>
        </p:nvPicPr>
        <p:blipFill>
          <a:blip r:embed="rId3">
            <a:alphaModFix/>
          </a:blip>
          <a:stretch>
            <a:fillRect/>
          </a:stretch>
        </p:blipFill>
        <p:spPr>
          <a:xfrm>
            <a:off x="283175" y="1493490"/>
            <a:ext cx="9144003" cy="21565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nvSpPr>
        <p:spPr>
          <a:xfrm>
            <a:off x="3170656" y="74600"/>
            <a:ext cx="3309488" cy="539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Data flow diagram</a:t>
            </a:r>
            <a:endParaRPr b="0" i="0" sz="700" u="none" cap="none" strike="noStrike">
              <a:solidFill>
                <a:srgbClr val="000000"/>
              </a:solidFill>
              <a:latin typeface="Times New Roman"/>
              <a:ea typeface="Times New Roman"/>
              <a:cs typeface="Times New Roman"/>
              <a:sym typeface="Times New Roman"/>
            </a:endParaRPr>
          </a:p>
        </p:txBody>
      </p:sp>
      <p:sp>
        <p:nvSpPr>
          <p:cNvPr id="209" name="Google Shape;209;p33"/>
          <p:cNvSpPr txBox="1"/>
          <p:nvPr/>
        </p:nvSpPr>
        <p:spPr>
          <a:xfrm>
            <a:off x="165100" y="914400"/>
            <a:ext cx="8763000" cy="3479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15000"/>
              </a:lnSpc>
              <a:spcBef>
                <a:spcPts val="0"/>
              </a:spcBef>
              <a:spcAft>
                <a:spcPts val="0"/>
              </a:spcAft>
              <a:buClr>
                <a:srgbClr val="595959"/>
              </a:buClr>
              <a:buSzPts val="1800"/>
              <a:buFont typeface="Noto Sans Symbols"/>
              <a:buNone/>
            </a:pPr>
            <a:r>
              <a:t/>
            </a:r>
            <a:endParaRPr b="0" i="0" sz="1400" u="none" cap="none" strike="noStrike">
              <a:solidFill>
                <a:srgbClr val="FF0000"/>
              </a:solidFill>
              <a:latin typeface="Arial"/>
              <a:ea typeface="Arial"/>
              <a:cs typeface="Arial"/>
              <a:sym typeface="Arial"/>
            </a:endParaRPr>
          </a:p>
        </p:txBody>
      </p:sp>
      <p:sp>
        <p:nvSpPr>
          <p:cNvPr id="210" name="Google Shape;210;p33"/>
          <p:cNvSpPr/>
          <p:nvPr/>
        </p:nvSpPr>
        <p:spPr>
          <a:xfrm>
            <a:off x="0" y="-138499"/>
            <a:ext cx="65" cy="276999"/>
          </a:xfrm>
          <a:prstGeom prst="rect">
            <a:avLst/>
          </a:prstGeom>
          <a:solidFill>
            <a:srgbClr val="21212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1" name="Google Shape;211;p33"/>
          <p:cNvSpPr txBox="1"/>
          <p:nvPr/>
        </p:nvSpPr>
        <p:spPr>
          <a:xfrm>
            <a:off x="165150" y="2100125"/>
            <a:ext cx="8813700" cy="3594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100"/>
              <a:buFont typeface="Arial"/>
              <a:buNone/>
            </a:pPr>
            <a:r>
              <a:t/>
            </a:r>
            <a:endParaRPr i="0" sz="1300" u="none" cap="none" strike="noStrike">
              <a:solidFill>
                <a:schemeClr val="dk1"/>
              </a:solidFill>
              <a:latin typeface="Times New Roman"/>
              <a:ea typeface="Times New Roman"/>
              <a:cs typeface="Times New Roman"/>
              <a:sym typeface="Times New Roman"/>
            </a:endParaRPr>
          </a:p>
          <a:p>
            <a:pPr indent="-82550" lvl="0" marL="0" marR="0" rtl="0" algn="just">
              <a:lnSpc>
                <a:spcPct val="150000"/>
              </a:lnSpc>
              <a:spcBef>
                <a:spcPts val="0"/>
              </a:spcBef>
              <a:spcAft>
                <a:spcPts val="0"/>
              </a:spcAft>
              <a:buClr>
                <a:schemeClr val="dk1"/>
              </a:buClr>
              <a:buSzPts val="1300"/>
              <a:buFont typeface="Arial"/>
              <a:buChar char="•"/>
            </a:pPr>
            <a:r>
              <a:rPr i="0" lang="en-US" sz="1300" u="none" cap="none" strike="noStrike">
                <a:solidFill>
                  <a:schemeClr val="dk1"/>
                </a:solidFill>
                <a:latin typeface="Times New Roman"/>
                <a:ea typeface="Times New Roman"/>
                <a:cs typeface="Times New Roman"/>
                <a:sym typeface="Times New Roman"/>
              </a:rPr>
              <a:t>Data collection starts in the </a:t>
            </a:r>
            <a:r>
              <a:rPr b="1" i="0" lang="en-US" sz="1300" u="none" cap="none" strike="noStrike">
                <a:solidFill>
                  <a:schemeClr val="dk1"/>
                </a:solidFill>
                <a:latin typeface="Times New Roman"/>
                <a:ea typeface="Times New Roman"/>
                <a:cs typeface="Times New Roman"/>
                <a:sym typeface="Times New Roman"/>
              </a:rPr>
              <a:t>Data Input module</a:t>
            </a:r>
            <a:r>
              <a:rPr i="0" lang="en-US" sz="1300" u="none" cap="none" strike="noStrike">
                <a:solidFill>
                  <a:schemeClr val="dk1"/>
                </a:solidFill>
                <a:latin typeface="Times New Roman"/>
                <a:ea typeface="Times New Roman"/>
                <a:cs typeface="Times New Roman"/>
                <a:sym typeface="Times New Roman"/>
              </a:rPr>
              <a:t>, where the student uploads a CSV dataset through the dashboard interface.</a:t>
            </a:r>
            <a:endParaRPr sz="1300">
              <a:latin typeface="Times New Roman"/>
              <a:ea typeface="Times New Roman"/>
              <a:cs typeface="Times New Roman"/>
              <a:sym typeface="Times New Roman"/>
            </a:endParaRPr>
          </a:p>
          <a:p>
            <a:pPr indent="-82550" lvl="0" marL="0" marR="0" rtl="0" algn="just">
              <a:lnSpc>
                <a:spcPct val="150000"/>
              </a:lnSpc>
              <a:spcBef>
                <a:spcPts val="0"/>
              </a:spcBef>
              <a:spcAft>
                <a:spcPts val="0"/>
              </a:spcAft>
              <a:buClr>
                <a:schemeClr val="dk1"/>
              </a:buClr>
              <a:buSzPts val="1300"/>
              <a:buFont typeface="Arial"/>
              <a:buChar char="•"/>
            </a:pPr>
            <a:r>
              <a:rPr i="0" lang="en-US" sz="1300" u="none" cap="none" strike="noStrike">
                <a:solidFill>
                  <a:schemeClr val="dk1"/>
                </a:solidFill>
                <a:latin typeface="Times New Roman"/>
                <a:ea typeface="Times New Roman"/>
                <a:cs typeface="Times New Roman"/>
                <a:sym typeface="Times New Roman"/>
              </a:rPr>
              <a:t>The collected raw data is sent to the </a:t>
            </a:r>
            <a:r>
              <a:rPr b="1" i="0" lang="en-US" sz="1300" u="none" cap="none" strike="noStrike">
                <a:solidFill>
                  <a:schemeClr val="dk1"/>
                </a:solidFill>
                <a:latin typeface="Times New Roman"/>
                <a:ea typeface="Times New Roman"/>
                <a:cs typeface="Times New Roman"/>
                <a:sym typeface="Times New Roman"/>
              </a:rPr>
              <a:t>Preprocessing module</a:t>
            </a:r>
            <a:r>
              <a:rPr i="0" lang="en-US" sz="1300" u="none" cap="none" strike="noStrike">
                <a:solidFill>
                  <a:schemeClr val="dk1"/>
                </a:solidFill>
                <a:latin typeface="Times New Roman"/>
                <a:ea typeface="Times New Roman"/>
                <a:cs typeface="Times New Roman"/>
                <a:sym typeface="Times New Roman"/>
              </a:rPr>
              <a:t>, where missing values are handled, categorical variables are encoded, and features are scaled.</a:t>
            </a:r>
            <a:endParaRPr sz="1300">
              <a:latin typeface="Times New Roman"/>
              <a:ea typeface="Times New Roman"/>
              <a:cs typeface="Times New Roman"/>
              <a:sym typeface="Times New Roman"/>
            </a:endParaRPr>
          </a:p>
          <a:p>
            <a:pPr indent="-82550" lvl="0" marL="0" marR="0" rtl="0" algn="just">
              <a:lnSpc>
                <a:spcPct val="150000"/>
              </a:lnSpc>
              <a:spcBef>
                <a:spcPts val="0"/>
              </a:spcBef>
              <a:spcAft>
                <a:spcPts val="0"/>
              </a:spcAft>
              <a:buClr>
                <a:schemeClr val="dk1"/>
              </a:buClr>
              <a:buSzPts val="1300"/>
              <a:buFont typeface="Arial"/>
              <a:buChar char="•"/>
            </a:pPr>
            <a:r>
              <a:rPr i="0" lang="en-US" sz="1300" u="none" cap="none" strike="noStrike">
                <a:solidFill>
                  <a:schemeClr val="dk1"/>
                </a:solidFill>
                <a:latin typeface="Times New Roman"/>
                <a:ea typeface="Times New Roman"/>
                <a:cs typeface="Times New Roman"/>
                <a:sym typeface="Times New Roman"/>
              </a:rPr>
              <a:t>The processed data is stored and passed to the </a:t>
            </a:r>
            <a:r>
              <a:rPr b="1" i="0" lang="en-US" sz="1300" u="none" cap="none" strike="noStrike">
                <a:solidFill>
                  <a:schemeClr val="dk1"/>
                </a:solidFill>
                <a:latin typeface="Times New Roman"/>
                <a:ea typeface="Times New Roman"/>
                <a:cs typeface="Times New Roman"/>
                <a:sym typeface="Times New Roman"/>
              </a:rPr>
              <a:t>Model Training module</a:t>
            </a:r>
            <a:r>
              <a:rPr i="0" lang="en-US" sz="1300" u="none" cap="none" strike="noStrike">
                <a:solidFill>
                  <a:schemeClr val="dk1"/>
                </a:solidFill>
                <a:latin typeface="Times New Roman"/>
                <a:ea typeface="Times New Roman"/>
                <a:cs typeface="Times New Roman"/>
                <a:sym typeface="Times New Roman"/>
              </a:rPr>
              <a:t>, where the selected ML model (Logistic Regression, Decision Tree, Random Forest, or SVM) is trained.</a:t>
            </a:r>
            <a:endParaRPr sz="1300">
              <a:latin typeface="Times New Roman"/>
              <a:ea typeface="Times New Roman"/>
              <a:cs typeface="Times New Roman"/>
              <a:sym typeface="Times New Roman"/>
            </a:endParaRPr>
          </a:p>
          <a:p>
            <a:pPr indent="-82550" lvl="0" marL="0" marR="0" rtl="0" algn="just">
              <a:lnSpc>
                <a:spcPct val="150000"/>
              </a:lnSpc>
              <a:spcBef>
                <a:spcPts val="0"/>
              </a:spcBef>
              <a:spcAft>
                <a:spcPts val="0"/>
              </a:spcAft>
              <a:buClr>
                <a:schemeClr val="dk1"/>
              </a:buClr>
              <a:buSzPts val="1300"/>
              <a:buFont typeface="Arial"/>
              <a:buChar char="•"/>
            </a:pPr>
            <a:r>
              <a:rPr i="0" lang="en-US" sz="1300" u="none" cap="none" strike="noStrike">
                <a:solidFill>
                  <a:schemeClr val="dk1"/>
                </a:solidFill>
                <a:latin typeface="Times New Roman"/>
                <a:ea typeface="Times New Roman"/>
                <a:cs typeface="Times New Roman"/>
                <a:sym typeface="Times New Roman"/>
              </a:rPr>
              <a:t>The trained models generate predictions for new incoming data, which are forwarded to the </a:t>
            </a:r>
            <a:r>
              <a:rPr b="1" i="0" lang="en-US" sz="1300" u="none" cap="none" strike="noStrike">
                <a:solidFill>
                  <a:schemeClr val="dk1"/>
                </a:solidFill>
                <a:latin typeface="Times New Roman"/>
                <a:ea typeface="Times New Roman"/>
                <a:cs typeface="Times New Roman"/>
                <a:sym typeface="Times New Roman"/>
              </a:rPr>
              <a:t>Explanation module</a:t>
            </a:r>
            <a:r>
              <a:rPr i="0" lang="en-US" sz="1300" u="none" cap="none" strike="noStrike">
                <a:solidFill>
                  <a:schemeClr val="dk1"/>
                </a:solidFill>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p>
            <a:pPr indent="-82550" lvl="0" marL="0" marR="0" rtl="0" algn="just">
              <a:lnSpc>
                <a:spcPct val="150000"/>
              </a:lnSpc>
              <a:spcBef>
                <a:spcPts val="0"/>
              </a:spcBef>
              <a:spcAft>
                <a:spcPts val="0"/>
              </a:spcAft>
              <a:buClr>
                <a:schemeClr val="dk1"/>
              </a:buClr>
              <a:buSzPts val="1300"/>
              <a:buFont typeface="Times New Roman"/>
              <a:buChar char="•"/>
            </a:pPr>
            <a:r>
              <a:rPr i="0" lang="en-US" sz="1300" u="none" cap="none" strike="noStrike">
                <a:solidFill>
                  <a:schemeClr val="dk1"/>
                </a:solidFill>
                <a:latin typeface="Times New Roman"/>
                <a:ea typeface="Times New Roman"/>
                <a:cs typeface="Times New Roman"/>
                <a:sym typeface="Times New Roman"/>
              </a:rPr>
              <a:t>In the explanation stage, SHAP and LIME compute global and local feature attributions.</a:t>
            </a:r>
            <a:endParaRPr sz="1300">
              <a:latin typeface="Times New Roman"/>
              <a:ea typeface="Times New Roman"/>
              <a:cs typeface="Times New Roman"/>
              <a:sym typeface="Times New Roman"/>
            </a:endParaRPr>
          </a:p>
          <a:p>
            <a:pPr indent="-82550" lvl="0" marL="0" marR="0" rtl="0" algn="just">
              <a:lnSpc>
                <a:spcPct val="150000"/>
              </a:lnSpc>
              <a:spcBef>
                <a:spcPts val="0"/>
              </a:spcBef>
              <a:spcAft>
                <a:spcPts val="0"/>
              </a:spcAft>
              <a:buClr>
                <a:schemeClr val="dk1"/>
              </a:buClr>
              <a:buSzPts val="1300"/>
              <a:buFont typeface="Arial"/>
              <a:buChar char="•"/>
            </a:pPr>
            <a:r>
              <a:rPr i="0" lang="en-US" sz="1300" u="none" cap="none" strike="noStrike">
                <a:solidFill>
                  <a:schemeClr val="dk1"/>
                </a:solidFill>
                <a:latin typeface="Times New Roman"/>
                <a:ea typeface="Times New Roman"/>
                <a:cs typeface="Times New Roman"/>
                <a:sym typeface="Times New Roman"/>
              </a:rPr>
              <a:t>If abnormal behavior is detected, the results are sent to the </a:t>
            </a:r>
            <a:r>
              <a:rPr b="1" i="0" lang="en-US" sz="1300" u="none" cap="none" strike="noStrike">
                <a:solidFill>
                  <a:schemeClr val="dk1"/>
                </a:solidFill>
                <a:latin typeface="Times New Roman"/>
                <a:ea typeface="Times New Roman"/>
                <a:cs typeface="Times New Roman"/>
                <a:sym typeface="Times New Roman"/>
              </a:rPr>
              <a:t>Output module</a:t>
            </a:r>
            <a:r>
              <a:rPr i="0" lang="en-US" sz="1300" u="none" cap="none" strike="noStrike">
                <a:solidFill>
                  <a:schemeClr val="dk1"/>
                </a:solidFill>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p>
            <a:pPr indent="-82550" lvl="0" marL="0" marR="0" rtl="0" algn="just">
              <a:lnSpc>
                <a:spcPct val="150000"/>
              </a:lnSpc>
              <a:spcBef>
                <a:spcPts val="0"/>
              </a:spcBef>
              <a:spcAft>
                <a:spcPts val="0"/>
              </a:spcAft>
              <a:buClr>
                <a:schemeClr val="dk1"/>
              </a:buClr>
              <a:buSzPts val="1300"/>
              <a:buFont typeface="Times New Roman"/>
              <a:buChar char="•"/>
            </a:pPr>
            <a:r>
              <a:rPr i="0" lang="en-US" sz="1300" u="none" cap="none" strike="noStrike">
                <a:solidFill>
                  <a:schemeClr val="dk1"/>
                </a:solidFill>
                <a:latin typeface="Times New Roman"/>
                <a:ea typeface="Times New Roman"/>
                <a:cs typeface="Times New Roman"/>
                <a:sym typeface="Times New Roman"/>
              </a:rPr>
              <a:t>The output module updates the dashboard, stores logs, and sends real‑time alerts to notify the user.</a:t>
            </a:r>
            <a:endParaRPr sz="1300">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100"/>
              <a:buFont typeface="Arial"/>
              <a:buNone/>
            </a:pPr>
            <a:br>
              <a:rPr i="0" lang="en-US" sz="1300" u="none" cap="none" strike="noStrike">
                <a:solidFill>
                  <a:schemeClr val="dk1"/>
                </a:solidFill>
                <a:latin typeface="Times New Roman"/>
                <a:ea typeface="Times New Roman"/>
                <a:cs typeface="Times New Roman"/>
                <a:sym typeface="Times New Roman"/>
              </a:rPr>
            </a:br>
            <a:endParaRPr i="0" sz="1300" u="none" cap="none" strike="noStrike">
              <a:solidFill>
                <a:schemeClr val="dk1"/>
              </a:solidFill>
              <a:latin typeface="Times New Roman"/>
              <a:ea typeface="Times New Roman"/>
              <a:cs typeface="Times New Roman"/>
              <a:sym typeface="Times New Roman"/>
            </a:endParaRPr>
          </a:p>
        </p:txBody>
      </p:sp>
      <p:pic>
        <p:nvPicPr>
          <p:cNvPr id="212" name="Google Shape;212;p33"/>
          <p:cNvPicPr preferRelativeResize="0"/>
          <p:nvPr/>
        </p:nvPicPr>
        <p:blipFill>
          <a:blip r:embed="rId3">
            <a:alphaModFix/>
          </a:blip>
          <a:stretch>
            <a:fillRect/>
          </a:stretch>
        </p:blipFill>
        <p:spPr>
          <a:xfrm>
            <a:off x="386150" y="1109325"/>
            <a:ext cx="8383724" cy="990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nvSpPr>
        <p:spPr>
          <a:xfrm>
            <a:off x="2277409" y="127000"/>
            <a:ext cx="3884332" cy="539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Control flow diagram</a:t>
            </a:r>
            <a:endParaRPr b="0" i="0" sz="700" u="none" cap="none" strike="noStrike">
              <a:solidFill>
                <a:srgbClr val="000000"/>
              </a:solidFill>
              <a:latin typeface="Times New Roman"/>
              <a:ea typeface="Times New Roman"/>
              <a:cs typeface="Times New Roman"/>
              <a:sym typeface="Times New Roman"/>
            </a:endParaRPr>
          </a:p>
        </p:txBody>
      </p:sp>
      <p:sp>
        <p:nvSpPr>
          <p:cNvPr id="218" name="Google Shape;218;p34"/>
          <p:cNvSpPr txBox="1"/>
          <p:nvPr/>
        </p:nvSpPr>
        <p:spPr>
          <a:xfrm>
            <a:off x="165100" y="914400"/>
            <a:ext cx="8763000" cy="3479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15000"/>
              </a:lnSpc>
              <a:spcBef>
                <a:spcPts val="0"/>
              </a:spcBef>
              <a:spcAft>
                <a:spcPts val="0"/>
              </a:spcAft>
              <a:buClr>
                <a:srgbClr val="595959"/>
              </a:buClr>
              <a:buSzPts val="1800"/>
              <a:buFont typeface="Noto Sans Symbols"/>
              <a:buNone/>
            </a:pPr>
            <a:r>
              <a:t/>
            </a:r>
            <a:endParaRPr b="0" i="0" sz="1400" u="none" cap="none" strike="noStrike">
              <a:solidFill>
                <a:srgbClr val="FF0000"/>
              </a:solidFill>
              <a:latin typeface="Arial"/>
              <a:ea typeface="Arial"/>
              <a:cs typeface="Arial"/>
              <a:sym typeface="Arial"/>
            </a:endParaRPr>
          </a:p>
        </p:txBody>
      </p:sp>
      <p:sp>
        <p:nvSpPr>
          <p:cNvPr id="219" name="Google Shape;219;p34"/>
          <p:cNvSpPr txBox="1"/>
          <p:nvPr/>
        </p:nvSpPr>
        <p:spPr>
          <a:xfrm>
            <a:off x="4284035" y="1030473"/>
            <a:ext cx="4572000" cy="39711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System starts with </a:t>
            </a:r>
            <a:r>
              <a:rPr b="1" i="0" lang="en-US" sz="1200" u="none" cap="none" strike="noStrike">
                <a:solidFill>
                  <a:srgbClr val="000000"/>
                </a:solidFill>
                <a:latin typeface="Times New Roman"/>
                <a:ea typeface="Times New Roman"/>
                <a:cs typeface="Times New Roman"/>
                <a:sym typeface="Times New Roman"/>
              </a:rPr>
              <a:t>data upload</a:t>
            </a:r>
            <a:r>
              <a:rPr b="0" i="0" lang="en-US" sz="1200" u="none" cap="none" strike="noStrike">
                <a:solidFill>
                  <a:srgbClr val="000000"/>
                </a:solidFill>
                <a:latin typeface="Times New Roman"/>
                <a:ea typeface="Times New Roman"/>
                <a:cs typeface="Times New Roman"/>
                <a:sym typeface="Times New Roman"/>
              </a:rPr>
              <a:t>, where the student uploads a CSV dataset via the dashboard.</a:t>
            </a:r>
            <a:endParaRPr sz="1200"/>
          </a:p>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The collected data goes to </a:t>
            </a:r>
            <a:r>
              <a:rPr b="1" i="0" lang="en-US" sz="1200" u="none" cap="none" strike="noStrike">
                <a:solidFill>
                  <a:srgbClr val="000000"/>
                </a:solidFill>
                <a:latin typeface="Times New Roman"/>
                <a:ea typeface="Times New Roman"/>
                <a:cs typeface="Times New Roman"/>
                <a:sym typeface="Times New Roman"/>
              </a:rPr>
              <a:t>preprocessing and feature engineering</a:t>
            </a:r>
            <a:r>
              <a:rPr b="0" i="0" lang="en-US" sz="1200" u="none" cap="none" strike="noStrike">
                <a:solidFill>
                  <a:srgbClr val="000000"/>
                </a:solidFill>
                <a:latin typeface="Times New Roman"/>
                <a:ea typeface="Times New Roman"/>
                <a:cs typeface="Times New Roman"/>
                <a:sym typeface="Times New Roman"/>
              </a:rPr>
              <a:t>, where missing values are handled, encoding and scaling are applied.</a:t>
            </a:r>
            <a:endParaRPr sz="1200"/>
          </a:p>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The processed data is passed to the </a:t>
            </a:r>
            <a:r>
              <a:rPr b="1" i="0" lang="en-US" sz="1200" u="none" cap="none" strike="noStrike">
                <a:solidFill>
                  <a:srgbClr val="000000"/>
                </a:solidFill>
                <a:latin typeface="Times New Roman"/>
                <a:ea typeface="Times New Roman"/>
                <a:cs typeface="Times New Roman"/>
                <a:sym typeface="Times New Roman"/>
              </a:rPr>
              <a:t>model</a:t>
            </a:r>
            <a:r>
              <a:rPr b="0" i="0" lang="en-US" sz="1200" u="none" cap="none" strike="noStrike">
                <a:solidFill>
                  <a:srgbClr val="000000"/>
                </a:solidFill>
                <a:latin typeface="Times New Roman"/>
                <a:ea typeface="Times New Roman"/>
                <a:cs typeface="Times New Roman"/>
                <a:sym typeface="Times New Roman"/>
              </a:rPr>
              <a:t>, where the selected ML model is trained on the processed data.</a:t>
            </a:r>
            <a:endParaRPr sz="1200"/>
          </a:p>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The model performs </a:t>
            </a:r>
            <a:r>
              <a:rPr b="1" i="0" lang="en-US" sz="1200" u="none" cap="none" strike="noStrike">
                <a:solidFill>
                  <a:srgbClr val="000000"/>
                </a:solidFill>
                <a:latin typeface="Times New Roman"/>
                <a:ea typeface="Times New Roman"/>
                <a:cs typeface="Times New Roman"/>
                <a:sym typeface="Times New Roman"/>
              </a:rPr>
              <a:t>prediction and evaluation</a:t>
            </a:r>
            <a:r>
              <a:rPr b="0" i="0" lang="en-US" sz="1200" u="none" cap="none" strike="noStrike">
                <a:solidFill>
                  <a:srgbClr val="000000"/>
                </a:solidFill>
                <a:latin typeface="Times New Roman"/>
                <a:ea typeface="Times New Roman"/>
                <a:cs typeface="Times New Roman"/>
                <a:sym typeface="Times New Roman"/>
              </a:rPr>
              <a:t> on the new incoming data.</a:t>
            </a:r>
            <a:endParaRPr sz="1200"/>
          </a:p>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The predicted values are compared with actual values in the </a:t>
            </a:r>
            <a:r>
              <a:rPr b="1" i="0" lang="en-US" sz="1200" u="none" cap="none" strike="noStrike">
                <a:solidFill>
                  <a:srgbClr val="000000"/>
                </a:solidFill>
                <a:latin typeface="Times New Roman"/>
                <a:ea typeface="Times New Roman"/>
                <a:cs typeface="Times New Roman"/>
                <a:sym typeface="Times New Roman"/>
              </a:rPr>
              <a:t>explanation stage</a:t>
            </a:r>
            <a:r>
              <a:rPr b="0" i="0" lang="en-US" sz="1200" u="none" cap="none" strike="noStrike">
                <a:solidFill>
                  <a:srgbClr val="000000"/>
                </a:solidFill>
                <a:latin typeface="Times New Roman"/>
                <a:ea typeface="Times New Roman"/>
                <a:cs typeface="Times New Roman"/>
                <a:sym typeface="Times New Roman"/>
              </a:rPr>
              <a:t>.</a:t>
            </a:r>
            <a:endParaRPr sz="1200"/>
          </a:p>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If the result is normal, the system </a:t>
            </a:r>
            <a:r>
              <a:rPr b="1" i="0" lang="en-US" sz="1200" u="none" cap="none" strike="noStrike">
                <a:solidFill>
                  <a:srgbClr val="000000"/>
                </a:solidFill>
                <a:latin typeface="Times New Roman"/>
                <a:ea typeface="Times New Roman"/>
                <a:cs typeface="Times New Roman"/>
                <a:sym typeface="Times New Roman"/>
              </a:rPr>
              <a:t>displayed on the dashboard for student exploration</a:t>
            </a:r>
            <a:r>
              <a:rPr b="0" i="0" lang="en-US" sz="1200" u="none" cap="none" strike="noStrike">
                <a:solidFill>
                  <a:srgbClr val="000000"/>
                </a:solidFill>
                <a:latin typeface="Times New Roman"/>
                <a:ea typeface="Times New Roman"/>
                <a:cs typeface="Times New Roman"/>
                <a:sym typeface="Times New Roman"/>
              </a:rPr>
              <a:t>.</a:t>
            </a:r>
            <a:endParaRPr sz="1200"/>
          </a:p>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If an anomaly is detected, the system </a:t>
            </a:r>
            <a:r>
              <a:rPr b="1" i="0" lang="en-US" sz="1200" u="none" cap="none" strike="noStrike">
                <a:solidFill>
                  <a:srgbClr val="000000"/>
                </a:solidFill>
                <a:latin typeface="Times New Roman"/>
                <a:ea typeface="Times New Roman"/>
                <a:cs typeface="Times New Roman"/>
                <a:sym typeface="Times New Roman"/>
              </a:rPr>
              <a:t>re-runs prediction and updates the explanation interactively</a:t>
            </a:r>
            <a:r>
              <a:rPr b="0" i="0" lang="en-US" sz="1200" u="none" cap="none" strike="noStrike">
                <a:solidFill>
                  <a:srgbClr val="000000"/>
                </a:solidFill>
                <a:latin typeface="Times New Roman"/>
                <a:ea typeface="Times New Roman"/>
                <a:cs typeface="Times New Roman"/>
                <a:sym typeface="Times New Roman"/>
              </a:rPr>
              <a:t>.</a:t>
            </a:r>
            <a:endParaRPr sz="1200"/>
          </a:p>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If the evaluation shows poor accuracy or model failure, the system goes to </a:t>
            </a:r>
            <a:r>
              <a:rPr b="1" i="0" lang="en-US" sz="1200" u="none" cap="none" strike="noStrike">
                <a:solidFill>
                  <a:srgbClr val="000000"/>
                </a:solidFill>
                <a:latin typeface="Times New Roman"/>
                <a:ea typeface="Times New Roman"/>
                <a:cs typeface="Times New Roman"/>
                <a:sym typeface="Times New Roman"/>
              </a:rPr>
              <a:t>model selection and retraining</a:t>
            </a:r>
            <a:r>
              <a:rPr b="0" i="0" lang="en-US" sz="1200" u="none" cap="none" strike="noStrike">
                <a:solidFill>
                  <a:srgbClr val="000000"/>
                </a:solidFill>
                <a:latin typeface="Times New Roman"/>
                <a:ea typeface="Times New Roman"/>
                <a:cs typeface="Times New Roman"/>
                <a:sym typeface="Times New Roman"/>
              </a:rPr>
              <a:t>, choose different parameters, and retrain.</a:t>
            </a:r>
            <a:endParaRPr sz="1200"/>
          </a:p>
          <a:p>
            <a:pPr indent="-285750" lvl="0" marL="285750" marR="0" rtl="0" algn="just">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Times New Roman"/>
                <a:ea typeface="Times New Roman"/>
                <a:cs typeface="Times New Roman"/>
                <a:sym typeface="Times New Roman"/>
              </a:rPr>
              <a:t>The process repeats continuously for the </a:t>
            </a:r>
            <a:r>
              <a:rPr b="1" i="0" lang="en-US" sz="1200" u="none" cap="none" strike="noStrike">
                <a:solidFill>
                  <a:srgbClr val="000000"/>
                </a:solidFill>
                <a:latin typeface="Times New Roman"/>
                <a:ea typeface="Times New Roman"/>
                <a:cs typeface="Times New Roman"/>
                <a:sym typeface="Times New Roman"/>
              </a:rPr>
              <a:t>different datasets or models</a:t>
            </a:r>
            <a:r>
              <a:rPr b="0" i="0" lang="en-US" sz="1200" u="none" cap="none" strike="noStrike">
                <a:solidFill>
                  <a:srgbClr val="000000"/>
                </a:solidFill>
                <a:latin typeface="Times New Roman"/>
                <a:ea typeface="Times New Roman"/>
                <a:cs typeface="Times New Roman"/>
                <a:sym typeface="Times New Roman"/>
              </a:rPr>
              <a:t>, making the dashboard a flexible learning tool.</a:t>
            </a:r>
            <a:endParaRPr sz="1200"/>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Times New Roman"/>
              <a:ea typeface="Times New Roman"/>
              <a:cs typeface="Times New Roman"/>
              <a:sym typeface="Times New Roman"/>
            </a:endParaRPr>
          </a:p>
        </p:txBody>
      </p:sp>
      <p:pic>
        <p:nvPicPr>
          <p:cNvPr id="220" name="Google Shape;220;p34"/>
          <p:cNvPicPr preferRelativeResize="0"/>
          <p:nvPr/>
        </p:nvPicPr>
        <p:blipFill>
          <a:blip r:embed="rId3">
            <a:alphaModFix/>
          </a:blip>
          <a:stretch>
            <a:fillRect/>
          </a:stretch>
        </p:blipFill>
        <p:spPr>
          <a:xfrm>
            <a:off x="590900" y="914400"/>
            <a:ext cx="2446201" cy="39703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nvSpPr>
        <p:spPr>
          <a:xfrm>
            <a:off x="2763647" y="109728"/>
            <a:ext cx="3565906" cy="539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Modules description</a:t>
            </a:r>
            <a:endParaRPr b="0" i="0" sz="700" u="none" cap="none" strike="noStrike">
              <a:solidFill>
                <a:srgbClr val="000000"/>
              </a:solidFill>
              <a:latin typeface="Times New Roman"/>
              <a:ea typeface="Times New Roman"/>
              <a:cs typeface="Times New Roman"/>
              <a:sym typeface="Times New Roman"/>
            </a:endParaRPr>
          </a:p>
        </p:txBody>
      </p:sp>
      <p:sp>
        <p:nvSpPr>
          <p:cNvPr id="226" name="Google Shape;226;p35"/>
          <p:cNvSpPr txBox="1"/>
          <p:nvPr/>
        </p:nvSpPr>
        <p:spPr>
          <a:xfrm>
            <a:off x="165100" y="914400"/>
            <a:ext cx="8763000" cy="3479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15000"/>
              </a:lnSpc>
              <a:spcBef>
                <a:spcPts val="0"/>
              </a:spcBef>
              <a:spcAft>
                <a:spcPts val="0"/>
              </a:spcAft>
              <a:buClr>
                <a:srgbClr val="595959"/>
              </a:buClr>
              <a:buSzPts val="1800"/>
              <a:buFont typeface="Noto Sans Symbols"/>
              <a:buNone/>
            </a:pPr>
            <a:r>
              <a:t/>
            </a:r>
            <a:endParaRPr b="0" i="0" sz="1400" u="none" cap="none" strike="noStrike">
              <a:solidFill>
                <a:srgbClr val="FF0000"/>
              </a:solidFill>
              <a:latin typeface="Arial"/>
              <a:ea typeface="Arial"/>
              <a:cs typeface="Arial"/>
              <a:sym typeface="Arial"/>
            </a:endParaRPr>
          </a:p>
        </p:txBody>
      </p:sp>
      <p:graphicFrame>
        <p:nvGraphicFramePr>
          <p:cNvPr id="227" name="Google Shape;227;p35"/>
          <p:cNvGraphicFramePr/>
          <p:nvPr/>
        </p:nvGraphicFramePr>
        <p:xfrm>
          <a:off x="701833" y="649477"/>
          <a:ext cx="3000000" cy="3000000"/>
        </p:xfrm>
        <a:graphic>
          <a:graphicData uri="http://schemas.openxmlformats.org/drawingml/2006/table">
            <a:tbl>
              <a:tblPr>
                <a:noFill/>
                <a:tableStyleId>{DAB9B7E7-A43A-4D2E-B312-CCB8F63433BE}</a:tableStyleId>
              </a:tblPr>
              <a:tblGrid>
                <a:gridCol w="1281600"/>
                <a:gridCol w="1281600"/>
                <a:gridCol w="1281600"/>
                <a:gridCol w="1281600"/>
                <a:gridCol w="1281600"/>
                <a:gridCol w="1281600"/>
              </a:tblGrid>
              <a:tr h="50232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Module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Inputs</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Processing Logic (Algorithms / Methods / Tools)</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Output / Exports</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Interdependence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Libraries / Frameworks</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accent1"/>
                    </a:solidFill>
                  </a:tcPr>
                </a:tc>
              </a:tr>
              <a:tr h="5902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Data Input</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Student-uploaded CSV dataset file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File upload via dashboard UI; automatic parsing and validation of CSV structure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Parsed raw dataset</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Sends raw dataset to Preprocessing module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Python, Pandas, Streamlit/Flask</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r>
              <a:tr h="5902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Preprocessing</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Raw parsed dataset</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Missing value handling, categorical encoding, feature scaling, train-test split</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Cleaned and scaled feature matrix</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Receives from Data Input, sends to Model Training module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Python, Pandas, NumPy, Scikit-learn</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r>
              <a:tr h="8153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Model Training</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Cleaned feature matrix, user-selected model and parameters</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Train selected ML model (Logistic Regression, Decision Tree, Random Forest, SVM); evaluate performance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Trained model object, accuracy, precision, recall, F1-score, confusion matrix</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Receives from Preprocessing, sends trained model to Explanation module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Scikit-learn, Joblib, Python</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r>
              <a:tr h="70280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Explanation</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Trained model, full dataset, individual prediction instances</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Run SHAP for global feature importance and local attributions; run LIME for individual prediction explanations</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SHAP values, LIME explanations, feature importance rankings</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Receives from Model Training, sends to Visualization module</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SHAP, LIME, NumPy, Python</a:t>
                      </a:r>
                      <a:endParaRPr/>
                    </a:p>
                  </a:txBody>
                  <a:tcPr marT="18775" marB="18775" marR="37550" marL="375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1CDFB"/>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nvSpPr>
        <p:spPr>
          <a:xfrm>
            <a:off x="237744" y="0"/>
            <a:ext cx="3541776" cy="522431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1. Data Input Module</a:t>
            </a:r>
            <a:endParaRPr/>
          </a:p>
          <a:p>
            <a:pPr indent="0" lvl="0" marL="0" marR="0" rtl="0" algn="l">
              <a:lnSpc>
                <a:spcPct val="15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Inputs:</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Student-uploaded CSV dataset file</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User-selected ML model and configuration parameters</a:t>
            </a:r>
            <a:endParaRPr/>
          </a:p>
          <a:p>
            <a:pPr indent="0" lvl="0" marL="0" marR="0" rtl="0" algn="l">
              <a:lnSpc>
                <a:spcPct val="15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Processing Logic:</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Dashboard receives CSV upload from student</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System validates file structure and parses data</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Dataset preview is displayed for student review</a:t>
            </a:r>
            <a:endParaRPr/>
          </a:p>
          <a:p>
            <a:pPr indent="0" lvl="0" marL="0" marR="0" rtl="0" algn="l">
              <a:lnSpc>
                <a:spcPct val="15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Outputs:</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Parsed raw dataset ready for preprocessing</a:t>
            </a:r>
            <a:endParaRPr/>
          </a:p>
          <a:p>
            <a:pPr indent="0" lvl="0" marL="0" marR="0" rtl="0" algn="l">
              <a:lnSpc>
                <a:spcPct val="15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Interdependence:</a:t>
            </a:r>
            <a:br>
              <a:rPr b="0" i="0" lang="en-US" sz="1400" u="none" cap="none" strike="noStrike">
                <a:solidFill>
                  <a:srgbClr val="000000"/>
                </a:solidFill>
                <a:latin typeface="Times New Roman"/>
                <a:ea typeface="Times New Roman"/>
                <a:cs typeface="Times New Roman"/>
                <a:sym typeface="Times New Roman"/>
              </a:rPr>
            </a:br>
            <a:r>
              <a:rPr b="0" i="0" lang="en-US" sz="1400" u="none" cap="none" strike="noStrike">
                <a:solidFill>
                  <a:srgbClr val="000000"/>
                </a:solidFill>
                <a:latin typeface="Times New Roman"/>
                <a:ea typeface="Times New Roman"/>
                <a:cs typeface="Times New Roman"/>
                <a:sym typeface="Times New Roman"/>
              </a:rPr>
              <a:t>Sends parsed dataset to Preprocessing module</a:t>
            </a:r>
            <a:endParaRPr/>
          </a:p>
          <a:p>
            <a:pPr indent="0" lvl="0" marL="0" marR="0" rtl="0" algn="l">
              <a:lnSpc>
                <a:spcPct val="15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Tools / Libraries:</a:t>
            </a:r>
            <a:br>
              <a:rPr b="0" i="0" lang="en-US" sz="1400" u="none" cap="none" strike="noStrike">
                <a:solidFill>
                  <a:srgbClr val="000000"/>
                </a:solidFill>
                <a:latin typeface="Times New Roman"/>
                <a:ea typeface="Times New Roman"/>
                <a:cs typeface="Times New Roman"/>
                <a:sym typeface="Times New Roman"/>
              </a:rPr>
            </a:br>
            <a:r>
              <a:rPr b="0" i="0" lang="en-US" sz="1400" u="none" cap="none" strike="noStrike">
                <a:solidFill>
                  <a:srgbClr val="000000"/>
                </a:solidFill>
                <a:latin typeface="Times New Roman"/>
                <a:ea typeface="Times New Roman"/>
                <a:cs typeface="Times New Roman"/>
                <a:sym typeface="Times New Roman"/>
              </a:rPr>
              <a:t>Python, Pandas, Streamlit / Flask, CSV parser</a:t>
            </a:r>
            <a:endParaRPr/>
          </a:p>
          <a:p>
            <a:pPr indent="0" lvl="0" marL="0" marR="0" rtl="0" algn="l">
              <a:lnSpc>
                <a:spcPct val="150000"/>
              </a:lnSpc>
              <a:spcBef>
                <a:spcPts val="0"/>
              </a:spcBef>
              <a:spcAft>
                <a:spcPts val="0"/>
              </a:spcAft>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233" name="Google Shape;233;p36"/>
          <p:cNvSpPr txBox="1"/>
          <p:nvPr/>
        </p:nvSpPr>
        <p:spPr>
          <a:xfrm>
            <a:off x="3962400" y="-19237"/>
            <a:ext cx="4572000" cy="526278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2. Preprocessing Module</a:t>
            </a:r>
            <a:endParaRPr/>
          </a:p>
          <a:p>
            <a:pPr indent="0" lvl="0" marL="0" marR="0" rtl="0" algn="l">
              <a:lnSpc>
                <a:spcPct val="150000"/>
              </a:lnSpc>
              <a:spcBef>
                <a:spcPts val="30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Inputs:</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50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Parsed raw CSV dataset</a:t>
            </a:r>
            <a:endParaRPr/>
          </a:p>
          <a:p>
            <a:pPr indent="-88900" lvl="0" marL="0" marR="0" rtl="0" algn="l">
              <a:lnSpc>
                <a:spcPct val="150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User-defined feature selection and train-test split ratio</a:t>
            </a:r>
            <a:endParaRPr/>
          </a:p>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Processing Logic:</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50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Handle missing values (imputation or removal)</a:t>
            </a:r>
            <a:endParaRPr/>
          </a:p>
          <a:p>
            <a:pPr indent="-88900" lvl="0" marL="0" marR="0" rtl="0" algn="l">
              <a:lnSpc>
                <a:spcPct val="150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Encode categorical variables (label/one-hot encoding)</a:t>
            </a:r>
            <a:endParaRPr/>
          </a:p>
          <a:p>
            <a:pPr indent="-88900" lvl="0" marL="0" marR="0" rtl="0" algn="l">
              <a:lnSpc>
                <a:spcPct val="150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Scale numerical features (StandardScaler / MinMaxScaler)</a:t>
            </a:r>
            <a:endParaRPr/>
          </a:p>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Outputs:</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50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Cleaned and scaled feature matrix</a:t>
            </a:r>
            <a:endParaRPr/>
          </a:p>
          <a:p>
            <a:pPr indent="-88900" lvl="0" marL="0" marR="0" rtl="0" algn="l">
              <a:lnSpc>
                <a:spcPct val="150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Train and test split arrays ready for model training</a:t>
            </a:r>
            <a:endParaRPr/>
          </a:p>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Interdependence:</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Receives from Data Input → Sends to Model Training module</a:t>
            </a:r>
            <a:endParaRPr/>
          </a:p>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Tools / Libraries:</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Python, Pandas, NumPy, Scikit-learn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idx="12" type="sldNum"/>
          </p:nvPr>
        </p:nvSpPr>
        <p:spPr>
          <a:xfrm>
            <a:off x="7915656" y="4836287"/>
            <a:ext cx="1066800" cy="182563"/>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9" name="Google Shape;239;p37"/>
          <p:cNvSpPr txBox="1"/>
          <p:nvPr/>
        </p:nvSpPr>
        <p:spPr>
          <a:xfrm>
            <a:off x="256032" y="79228"/>
            <a:ext cx="4090500" cy="5054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3. Model Training Module</a:t>
            </a:r>
            <a:endParaRPr/>
          </a:p>
          <a:p>
            <a:pPr indent="0" lvl="0" marL="0" marR="0" rtl="0" algn="l">
              <a:lnSpc>
                <a:spcPct val="115000"/>
              </a:lnSpc>
              <a:spcBef>
                <a:spcPts val="30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Inputs:</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Cleaned feature matrix, user-selected model type, and train-test split</a:t>
            </a:r>
            <a:endParaRPr/>
          </a:p>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Processing Logic:</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Train chosen ML model: Logistic Regression, Decision Tree, Random Forest, or SVM</a:t>
            </a:r>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Evaluate on test set: accuracy, precision, recall, F1-score, confusion matrix</a:t>
            </a:r>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Save trained model object for explanation and what-if use</a:t>
            </a:r>
            <a:endParaRPr/>
          </a:p>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Outputs:</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Trained ML model object</a:t>
            </a:r>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Accuracy, Precision, Recall, F1-score, Confusion Matrix</a:t>
            </a:r>
            <a:endParaRPr/>
          </a:p>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Interdependence:</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Receives from Preprocessing → Sends trained model to Explanation module</a:t>
            </a:r>
            <a:endParaRPr/>
          </a:p>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Tools / Libraries:</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Scikit-learn,Joblib, Python</a:t>
            </a:r>
            <a:endParaRPr/>
          </a:p>
        </p:txBody>
      </p:sp>
      <p:sp>
        <p:nvSpPr>
          <p:cNvPr id="240" name="Google Shape;240;p37"/>
          <p:cNvSpPr txBox="1"/>
          <p:nvPr/>
        </p:nvSpPr>
        <p:spPr>
          <a:xfrm>
            <a:off x="4410456" y="79228"/>
            <a:ext cx="4572000" cy="4559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4. Explanation Module</a:t>
            </a:r>
            <a:endParaRPr/>
          </a:p>
          <a:p>
            <a:pPr indent="0" lvl="0" marL="0" marR="0" rtl="0" algn="l">
              <a:lnSpc>
                <a:spcPct val="115000"/>
              </a:lnSpc>
              <a:spcBef>
                <a:spcPts val="30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Inputs:</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Trained model object</a:t>
            </a:r>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Full dataset and individual prediction instances</a:t>
            </a:r>
            <a:endParaRPr/>
          </a:p>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Processing Logic:</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Run SHAP: compute global feature importance and local Shapley attributions</a:t>
            </a:r>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Run LIME: perturb input and generate local explanation for each prediction</a:t>
            </a:r>
            <a:endParaRPr/>
          </a:p>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Outputs:</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SHAP global importance chart, SHAP local attribution values</a:t>
            </a:r>
            <a:endParaRPr/>
          </a:p>
          <a:p>
            <a:pPr indent="-88900" lvl="0" marL="0" marR="0" rtl="0" algn="l">
              <a:lnSpc>
                <a:spcPct val="115000"/>
              </a:lnSpc>
              <a:spcBef>
                <a:spcPts val="0"/>
              </a:spcBef>
              <a:spcAft>
                <a:spcPts val="0"/>
              </a:spcAft>
              <a:buClr>
                <a:srgbClr val="000000"/>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LIME explanation bar chart for individual predictions</a:t>
            </a:r>
            <a:endParaRPr/>
          </a:p>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Interdependence:</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Receives from Model Training → Sends explanations to Visualization module</a:t>
            </a:r>
            <a:endParaRPr/>
          </a:p>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Tools / Libraries:</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SHAP, LIME, NumPy, Python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8"/>
          <p:cNvSpPr txBox="1"/>
          <p:nvPr>
            <p:ph idx="12" type="sldNum"/>
          </p:nvPr>
        </p:nvSpPr>
        <p:spPr>
          <a:xfrm>
            <a:off x="7854696" y="4769231"/>
            <a:ext cx="1066800" cy="182563"/>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46" name="Google Shape;246;p38"/>
          <p:cNvSpPr txBox="1"/>
          <p:nvPr/>
        </p:nvSpPr>
        <p:spPr>
          <a:xfrm>
            <a:off x="380984" y="5097"/>
            <a:ext cx="4572000" cy="5133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5. Visualization Module</a:t>
            </a:r>
            <a:endParaRPr sz="1300"/>
          </a:p>
          <a:p>
            <a:pPr indent="0" lvl="0" marL="0" marR="0" rtl="0" algn="l">
              <a:lnSpc>
                <a:spcPct val="150000"/>
              </a:lnSpc>
              <a:spcBef>
                <a:spcPts val="30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Inputs:</a:t>
            </a:r>
            <a:endParaRPr b="0" i="0" sz="1300" u="none" cap="none" strike="noStrike">
              <a:solidFill>
                <a:schemeClr val="dk1"/>
              </a:solidFill>
              <a:latin typeface="Times New Roman"/>
              <a:ea typeface="Times New Roman"/>
              <a:cs typeface="Times New Roman"/>
              <a:sym typeface="Times New Roman"/>
            </a:endParaRPr>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Model metrics, SHAP values, LIME explanations, user feature inputs</a:t>
            </a:r>
            <a:endParaRPr sz="1300"/>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Dataset for 2D/3D plotting and decision boundary rendering</a:t>
            </a:r>
            <a:endParaRPr sz="1300"/>
          </a:p>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Processing Logic:</a:t>
            </a:r>
            <a:endParaRPr b="0" i="0" sz="1300" u="none" cap="none" strike="noStrike">
              <a:solidFill>
                <a:schemeClr val="dk1"/>
              </a:solidFill>
              <a:latin typeface="Times New Roman"/>
              <a:ea typeface="Times New Roman"/>
              <a:cs typeface="Times New Roman"/>
              <a:sym typeface="Times New Roman"/>
            </a:endParaRPr>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Render SHAP summary plots and bar charts</a:t>
            </a:r>
            <a:endParaRPr sz="1300"/>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Render LIME local explanation charts</a:t>
            </a:r>
            <a:endParaRPr sz="1300"/>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Display confusion matrix, 2D/3D feature plots, decision boundary</a:t>
            </a:r>
            <a:endParaRPr sz="1300"/>
          </a:p>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Outputs:</a:t>
            </a:r>
            <a:endParaRPr b="0" i="0" sz="1300" u="none" cap="none" strike="noStrike">
              <a:solidFill>
                <a:schemeClr val="dk1"/>
              </a:solidFill>
              <a:latin typeface="Times New Roman"/>
              <a:ea typeface="Times New Roman"/>
              <a:cs typeface="Times New Roman"/>
              <a:sym typeface="Times New Roman"/>
            </a:endParaRPr>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Interactive charts rendered on student dashboard</a:t>
            </a:r>
            <a:endParaRPr sz="1300"/>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What-if simulator: re-run prediction on modified feature inputs</a:t>
            </a:r>
            <a:endParaRPr sz="1300"/>
          </a:p>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Interdependence:</a:t>
            </a:r>
            <a:br>
              <a:rPr b="0" i="0" lang="en-US" sz="1300" u="none" cap="none" strike="noStrike">
                <a:solidFill>
                  <a:schemeClr val="dk1"/>
                </a:solidFill>
                <a:latin typeface="Times New Roman"/>
                <a:ea typeface="Times New Roman"/>
                <a:cs typeface="Times New Roman"/>
                <a:sym typeface="Times New Roman"/>
              </a:rPr>
            </a:br>
            <a:r>
              <a:rPr b="0" i="0" lang="en-US" sz="1300" u="none" cap="none" strike="noStrike">
                <a:solidFill>
                  <a:schemeClr val="dk1"/>
                </a:solidFill>
                <a:latin typeface="Times New Roman"/>
                <a:ea typeface="Times New Roman"/>
                <a:cs typeface="Times New Roman"/>
                <a:sym typeface="Times New Roman"/>
              </a:rPr>
              <a:t>Receives from Explanation module → Displays to student, sends to Output</a:t>
            </a:r>
            <a:endParaRPr sz="1300"/>
          </a:p>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Tools / Libraries:</a:t>
            </a:r>
            <a:br>
              <a:rPr b="0" i="0" lang="en-US" sz="1300" u="none" cap="none" strike="noStrike">
                <a:solidFill>
                  <a:schemeClr val="dk1"/>
                </a:solidFill>
                <a:latin typeface="Times New Roman"/>
                <a:ea typeface="Times New Roman"/>
                <a:cs typeface="Times New Roman"/>
                <a:sym typeface="Times New Roman"/>
              </a:rPr>
            </a:br>
            <a:r>
              <a:rPr b="0" i="0" lang="en-US" sz="1300" u="none" cap="none" strike="noStrike">
                <a:solidFill>
                  <a:schemeClr val="dk1"/>
                </a:solidFill>
                <a:latin typeface="Times New Roman"/>
                <a:ea typeface="Times New Roman"/>
                <a:cs typeface="Times New Roman"/>
                <a:sym typeface="Times New Roman"/>
              </a:rPr>
              <a:t>Plotly, Matplotlib, Streamlit Python, ReportLab (optional)</a:t>
            </a:r>
            <a:endParaRPr b="0" i="0" sz="1300" u="none" cap="none" strike="noStrike">
              <a:solidFill>
                <a:schemeClr val="dk1"/>
              </a:solidFill>
              <a:latin typeface="Times New Roman"/>
              <a:ea typeface="Times New Roman"/>
              <a:cs typeface="Times New Roman"/>
              <a:sym typeface="Times New Roman"/>
            </a:endParaRPr>
          </a:p>
        </p:txBody>
      </p:sp>
      <p:sp>
        <p:nvSpPr>
          <p:cNvPr id="247" name="Google Shape;247;p38"/>
          <p:cNvSpPr txBox="1"/>
          <p:nvPr/>
        </p:nvSpPr>
        <p:spPr>
          <a:xfrm>
            <a:off x="5053571" y="3"/>
            <a:ext cx="4572000" cy="5472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6. Output / Export Module</a:t>
            </a:r>
            <a:endParaRPr sz="1300"/>
          </a:p>
          <a:p>
            <a:pPr indent="0" lvl="0" marL="0" marR="0" rtl="0" algn="l">
              <a:lnSpc>
                <a:spcPct val="150000"/>
              </a:lnSpc>
              <a:spcBef>
                <a:spcPts val="30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Inputs:</a:t>
            </a:r>
            <a:endParaRPr b="0" i="0" sz="1300" u="none" cap="none" strike="noStrike">
              <a:solidFill>
                <a:schemeClr val="dk1"/>
              </a:solidFill>
              <a:latin typeface="Times New Roman"/>
              <a:ea typeface="Times New Roman"/>
              <a:cs typeface="Times New Roman"/>
              <a:sym typeface="Times New Roman"/>
            </a:endParaRPr>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Final dashboard views, student session summary</a:t>
            </a:r>
            <a:endParaRPr sz="1300"/>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User-requested export data (charts, metrics)</a:t>
            </a:r>
            <a:endParaRPr sz="1300"/>
          </a:p>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Processing Logic:</a:t>
            </a:r>
            <a:endParaRPr b="0" i="0" sz="1300" u="none" cap="none" strike="noStrike">
              <a:solidFill>
                <a:schemeClr val="dk1"/>
              </a:solidFill>
              <a:latin typeface="Times New Roman"/>
              <a:ea typeface="Times New Roman"/>
              <a:cs typeface="Times New Roman"/>
              <a:sym typeface="Times New Roman"/>
            </a:endParaRPr>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Compile final model performance summary</a:t>
            </a:r>
            <a:endParaRPr sz="1300"/>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Allow export of charts and explanation reports as PDF or image</a:t>
            </a:r>
            <a:endParaRPr sz="1300"/>
          </a:p>
          <a:p>
            <a:pPr indent="0" lvl="0" marL="0" marR="0" rtl="0" algn="l">
              <a:lnSpc>
                <a:spcPct val="150000"/>
              </a:lnSpc>
              <a:spcBef>
                <a:spcPts val="0"/>
              </a:spcBef>
              <a:spcAft>
                <a:spcPts val="0"/>
              </a:spcAft>
              <a:buNone/>
            </a:pPr>
            <a:r>
              <a:rPr b="1" i="0" lang="en-US" sz="1300" u="none" cap="none" strike="noStrike">
                <a:solidFill>
                  <a:schemeClr val="dk1"/>
                </a:solidFill>
                <a:latin typeface="Times New Roman"/>
                <a:ea typeface="Times New Roman"/>
                <a:cs typeface="Times New Roman"/>
                <a:sym typeface="Times New Roman"/>
              </a:rPr>
              <a:t>Outputs:</a:t>
            </a:r>
            <a:endParaRPr b="0" i="0" sz="1300" u="none" cap="none" strike="noStrike">
              <a:solidFill>
                <a:schemeClr val="dk1"/>
              </a:solidFill>
              <a:latin typeface="Times New Roman"/>
              <a:ea typeface="Times New Roman"/>
              <a:cs typeface="Times New Roman"/>
              <a:sym typeface="Times New Roman"/>
            </a:endParaRPr>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Student-facing dashboard with full explanation and metrics view</a:t>
            </a:r>
            <a:endParaRPr sz="1300"/>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Downloadable SHAP/LIME charts and model report</a:t>
            </a:r>
            <a:endParaRPr sz="1300"/>
          </a:p>
          <a:p>
            <a:pPr indent="-82550" lvl="0" marL="0" marR="0" rtl="0" algn="l">
              <a:lnSpc>
                <a:spcPct val="150000"/>
              </a:lnSpc>
              <a:spcBef>
                <a:spcPts val="0"/>
              </a:spcBef>
              <a:spcAft>
                <a:spcPts val="0"/>
              </a:spcAft>
              <a:buClr>
                <a:srgbClr val="000000"/>
              </a:buClr>
              <a:buSzPts val="1300"/>
              <a:buFont typeface="Arial"/>
              <a:buChar char="•"/>
            </a:pPr>
            <a:r>
              <a:rPr b="0" i="0" lang="en-US" sz="1300" u="none" cap="none" strike="noStrike">
                <a:solidFill>
                  <a:schemeClr val="dk1"/>
                </a:solidFill>
                <a:latin typeface="Times New Roman"/>
                <a:ea typeface="Times New Roman"/>
                <a:cs typeface="Times New Roman"/>
                <a:sym typeface="Times New Roman"/>
              </a:rPr>
              <a:t>Session log for review and academic submission</a:t>
            </a:r>
            <a:endParaRPr sz="1300"/>
          </a:p>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Interdependence:</a:t>
            </a:r>
            <a:br>
              <a:rPr b="0" i="0" lang="en-US" sz="1300" u="none" cap="none" strike="noStrike">
                <a:solidFill>
                  <a:schemeClr val="dk1"/>
                </a:solidFill>
                <a:latin typeface="Times New Roman"/>
                <a:ea typeface="Times New Roman"/>
                <a:cs typeface="Times New Roman"/>
                <a:sym typeface="Times New Roman"/>
              </a:rPr>
            </a:br>
            <a:r>
              <a:rPr b="0" i="0" lang="en-US" sz="1300" u="none" cap="none" strike="noStrike">
                <a:solidFill>
                  <a:schemeClr val="dk1"/>
                </a:solidFill>
                <a:latin typeface="Times New Roman"/>
                <a:ea typeface="Times New Roman"/>
                <a:cs typeface="Times New Roman"/>
                <a:sym typeface="Times New Roman"/>
              </a:rPr>
              <a:t>Receives from Visualization module</a:t>
            </a:r>
            <a:endParaRPr sz="1300"/>
          </a:p>
          <a:p>
            <a:pPr indent="0" lvl="0" marL="0" marR="0" rtl="0" algn="l">
              <a:lnSpc>
                <a:spcPct val="150000"/>
              </a:lnSpc>
              <a:spcBef>
                <a:spcPts val="0"/>
              </a:spcBef>
              <a:spcAft>
                <a:spcPts val="0"/>
              </a:spcAft>
              <a:buClr>
                <a:srgbClr val="000000"/>
              </a:buClr>
              <a:buSzPts val="1400"/>
              <a:buFont typeface="Arial"/>
              <a:buNone/>
            </a:pPr>
            <a:r>
              <a:rPr b="1" i="0" lang="en-US" sz="1300" u="none" cap="none" strike="noStrike">
                <a:solidFill>
                  <a:schemeClr val="dk1"/>
                </a:solidFill>
                <a:latin typeface="Times New Roman"/>
                <a:ea typeface="Times New Roman"/>
                <a:cs typeface="Times New Roman"/>
                <a:sym typeface="Times New Roman"/>
              </a:rPr>
              <a:t>Tools / Libraries:</a:t>
            </a:r>
            <a:br>
              <a:rPr b="0" i="0" lang="en-US" sz="1300" u="none" cap="none" strike="noStrike">
                <a:solidFill>
                  <a:schemeClr val="dk1"/>
                </a:solidFill>
                <a:latin typeface="Times New Roman"/>
                <a:ea typeface="Times New Roman"/>
                <a:cs typeface="Times New Roman"/>
                <a:sym typeface="Times New Roman"/>
              </a:rPr>
            </a:br>
            <a:r>
              <a:rPr b="0" i="0" lang="en-US" sz="1300" u="none" cap="none" strike="noStrike">
                <a:solidFill>
                  <a:schemeClr val="dk1"/>
                </a:solidFill>
                <a:latin typeface="Times New Roman"/>
                <a:ea typeface="Times New Roman"/>
                <a:cs typeface="Times New Roman"/>
                <a:sym typeface="Times New Roman"/>
              </a:rPr>
              <a:t>Streamlit, Plotly,, Python</a:t>
            </a:r>
            <a:endParaRPr sz="1300"/>
          </a:p>
          <a:p>
            <a:pPr indent="0" lvl="0" marL="0" marR="0" rtl="0" algn="l">
              <a:lnSpc>
                <a:spcPct val="150000"/>
              </a:lnSpc>
              <a:spcBef>
                <a:spcPts val="0"/>
              </a:spcBef>
              <a:spcAft>
                <a:spcPts val="0"/>
              </a:spcAft>
              <a:buClr>
                <a:srgbClr val="000000"/>
              </a:buClr>
              <a:buSzPts val="1400"/>
              <a:buFont typeface="Arial"/>
              <a:buNone/>
            </a:pPr>
            <a:br>
              <a:rPr b="0" i="0" lang="en-US" sz="1300" u="none" cap="none" strike="noStrike">
                <a:solidFill>
                  <a:schemeClr val="dk1"/>
                </a:solidFill>
                <a:latin typeface="Times New Roman"/>
                <a:ea typeface="Times New Roman"/>
                <a:cs typeface="Times New Roman"/>
                <a:sym typeface="Times New Roman"/>
              </a:rPr>
            </a:br>
            <a:br>
              <a:rPr b="0" i="0" lang="en-US" sz="1400" u="none" cap="none" strike="noStrike">
                <a:solidFill>
                  <a:schemeClr val="dk1"/>
                </a:solidFill>
                <a:latin typeface="Times New Roman"/>
                <a:ea typeface="Times New Roman"/>
                <a:cs typeface="Times New Roman"/>
                <a:sym typeface="Times New Roman"/>
              </a:rPr>
            </a:b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9"/>
          <p:cNvSpPr txBox="1"/>
          <p:nvPr>
            <p:ph type="ctrTitle"/>
          </p:nvPr>
        </p:nvSpPr>
        <p:spPr>
          <a:xfrm>
            <a:off x="205154" y="87313"/>
            <a:ext cx="91440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80555"/>
              <a:buNone/>
            </a:pPr>
            <a:r>
              <a:rPr lang="en-US"/>
              <a:t>Expected outcomes</a:t>
            </a:r>
            <a:endParaRPr>
              <a:solidFill>
                <a:schemeClr val="dk1"/>
              </a:solidFill>
            </a:endParaRPr>
          </a:p>
        </p:txBody>
      </p:sp>
      <p:sp>
        <p:nvSpPr>
          <p:cNvPr id="253" name="Google Shape;253;p39"/>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sp>
        <p:nvSpPr>
          <p:cNvPr id="254" name="Google Shape;254;p39"/>
          <p:cNvSpPr txBox="1"/>
          <p:nvPr>
            <p:ph idx="1" type="body"/>
          </p:nvPr>
        </p:nvSpPr>
        <p:spPr>
          <a:xfrm>
            <a:off x="294054" y="1043017"/>
            <a:ext cx="7484100" cy="3594000"/>
          </a:xfrm>
          <a:prstGeom prst="rect">
            <a:avLst/>
          </a:prstGeom>
          <a:noFill/>
          <a:ln>
            <a:noFill/>
          </a:ln>
        </p:spPr>
        <p:txBody>
          <a:bodyPr anchorCtr="0" anchor="ctr" bIns="45700" lIns="91425" spcFirstLastPara="1" rIns="91425" wrap="square" tIns="45700">
            <a:spAutoFit/>
          </a:bodyPr>
          <a:lstStyle/>
          <a:p>
            <a:pPr indent="-82550" lvl="0" marL="0" marR="0" rtl="0" algn="l">
              <a:lnSpc>
                <a:spcPct val="150000"/>
              </a:lnSpc>
              <a:spcBef>
                <a:spcPts val="0"/>
              </a:spcBef>
              <a:spcAft>
                <a:spcPts val="0"/>
              </a:spcAft>
              <a:buClr>
                <a:schemeClr val="dk1"/>
              </a:buClr>
              <a:buSzPts val="1300"/>
              <a:buFont typeface="Times New Roman"/>
              <a:buChar char="•"/>
            </a:pPr>
            <a:r>
              <a:rPr b="1" i="0" lang="en-US" sz="1300" u="none" cap="none" strike="noStrike">
                <a:solidFill>
                  <a:schemeClr val="dk1"/>
                </a:solidFill>
                <a:latin typeface="Times New Roman"/>
                <a:ea typeface="Times New Roman"/>
                <a:cs typeface="Times New Roman"/>
                <a:sym typeface="Times New Roman"/>
              </a:rPr>
              <a:t>Improved Student Understanding:</a:t>
            </a:r>
            <a:br>
              <a:rPr b="0" i="0" lang="en-US" sz="1300" u="none" cap="none" strike="noStrike">
                <a:solidFill>
                  <a:schemeClr val="dk1"/>
                </a:solidFill>
                <a:latin typeface="Times New Roman"/>
                <a:ea typeface="Times New Roman"/>
                <a:cs typeface="Times New Roman"/>
                <a:sym typeface="Times New Roman"/>
              </a:rPr>
            </a:br>
            <a:r>
              <a:rPr b="0" i="0" lang="en-US" sz="1300" u="none" cap="none" strike="noStrike">
                <a:solidFill>
                  <a:schemeClr val="dk1"/>
                </a:solidFill>
                <a:latin typeface="Times New Roman"/>
                <a:ea typeface="Times New Roman"/>
                <a:cs typeface="Times New Roman"/>
                <a:sym typeface="Times New Roman"/>
              </a:rPr>
              <a:t>Students are expected to gain significantly better conceptual understanding of how ML models make decisions through interactive SHAP and LIME explanations.</a:t>
            </a:r>
            <a:endParaRPr sz="2500"/>
          </a:p>
          <a:p>
            <a:pPr indent="-82550" lvl="0" marL="0" marR="0" rtl="0" algn="l">
              <a:lnSpc>
                <a:spcPct val="150000"/>
              </a:lnSpc>
              <a:spcBef>
                <a:spcPts val="0"/>
              </a:spcBef>
              <a:spcAft>
                <a:spcPts val="0"/>
              </a:spcAft>
              <a:buClr>
                <a:schemeClr val="dk1"/>
              </a:buClr>
              <a:buSzPts val="1300"/>
              <a:buFont typeface="Times New Roman"/>
              <a:buChar char="•"/>
            </a:pPr>
            <a:r>
              <a:rPr b="1" i="0" lang="en-US" sz="1300" u="none" cap="none" strike="noStrike">
                <a:solidFill>
                  <a:schemeClr val="dk1"/>
                </a:solidFill>
                <a:latin typeface="Times New Roman"/>
                <a:ea typeface="Times New Roman"/>
                <a:cs typeface="Times New Roman"/>
                <a:sym typeface="Times New Roman"/>
              </a:rPr>
              <a:t>Multi-Model Comparison:</a:t>
            </a:r>
            <a:br>
              <a:rPr b="0" i="0" lang="en-US" sz="1300" u="none" cap="none" strike="noStrike">
                <a:solidFill>
                  <a:schemeClr val="dk1"/>
                </a:solidFill>
                <a:latin typeface="Times New Roman"/>
                <a:ea typeface="Times New Roman"/>
                <a:cs typeface="Times New Roman"/>
                <a:sym typeface="Times New Roman"/>
              </a:rPr>
            </a:br>
            <a:r>
              <a:rPr b="0" i="0" lang="en-US" sz="1300" u="none" cap="none" strike="noStrike">
                <a:solidFill>
                  <a:schemeClr val="dk1"/>
                </a:solidFill>
                <a:latin typeface="Times New Roman"/>
                <a:ea typeface="Times New Roman"/>
                <a:cs typeface="Times New Roman"/>
                <a:sym typeface="Times New Roman"/>
              </a:rPr>
              <a:t>The dashboard allows students to train and compare multiple ML models side-by-side, observing how model choice affects accuracy and feature importance.</a:t>
            </a:r>
            <a:endParaRPr sz="2500"/>
          </a:p>
          <a:p>
            <a:pPr indent="-82550" lvl="0" marL="0" marR="0" rtl="0" algn="l">
              <a:lnSpc>
                <a:spcPct val="150000"/>
              </a:lnSpc>
              <a:spcBef>
                <a:spcPts val="0"/>
              </a:spcBef>
              <a:spcAft>
                <a:spcPts val="0"/>
              </a:spcAft>
              <a:buClr>
                <a:schemeClr val="dk1"/>
              </a:buClr>
              <a:buSzPts val="1300"/>
              <a:buFont typeface="Times New Roman"/>
              <a:buChar char="•"/>
            </a:pPr>
            <a:r>
              <a:rPr b="1" i="0" lang="en-US" sz="1300" u="none" cap="none" strike="noStrike">
                <a:solidFill>
                  <a:schemeClr val="dk1"/>
                </a:solidFill>
                <a:latin typeface="Times New Roman"/>
                <a:ea typeface="Times New Roman"/>
                <a:cs typeface="Times New Roman"/>
                <a:sym typeface="Times New Roman"/>
              </a:rPr>
              <a:t>Interactive Explainability:</a:t>
            </a:r>
            <a:br>
              <a:rPr b="0" i="0" lang="en-US" sz="1300" u="none" cap="none" strike="noStrike">
                <a:solidFill>
                  <a:schemeClr val="dk1"/>
                </a:solidFill>
                <a:latin typeface="Times New Roman"/>
                <a:ea typeface="Times New Roman"/>
                <a:cs typeface="Times New Roman"/>
                <a:sym typeface="Times New Roman"/>
              </a:rPr>
            </a:br>
            <a:r>
              <a:rPr b="0" i="0" lang="en-US" sz="1300" u="none" cap="none" strike="noStrike">
                <a:solidFill>
                  <a:schemeClr val="dk1"/>
                </a:solidFill>
                <a:latin typeface="Times New Roman"/>
                <a:ea typeface="Times New Roman"/>
                <a:cs typeface="Times New Roman"/>
                <a:sym typeface="Times New Roman"/>
              </a:rPr>
              <a:t>Students can explore both global and local explanations, run what-if simulations, and visually observe how individual feature changes affect predictions.</a:t>
            </a:r>
            <a:endParaRPr sz="2500"/>
          </a:p>
          <a:p>
            <a:pPr indent="-82550" lvl="0" marL="0" marR="0" rtl="0" algn="l">
              <a:lnSpc>
                <a:spcPct val="150000"/>
              </a:lnSpc>
              <a:spcBef>
                <a:spcPts val="0"/>
              </a:spcBef>
              <a:spcAft>
                <a:spcPts val="0"/>
              </a:spcAft>
              <a:buClr>
                <a:schemeClr val="dk1"/>
              </a:buClr>
              <a:buSzPts val="1300"/>
              <a:buFont typeface="Times New Roman"/>
              <a:buChar char="•"/>
            </a:pPr>
            <a:r>
              <a:rPr b="1" i="0" lang="en-US" sz="1300" u="none" cap="none" strike="noStrike">
                <a:solidFill>
                  <a:schemeClr val="dk1"/>
                </a:solidFill>
                <a:latin typeface="Times New Roman"/>
                <a:ea typeface="Times New Roman"/>
                <a:cs typeface="Times New Roman"/>
                <a:sym typeface="Times New Roman"/>
              </a:rPr>
              <a:t>End-to-End Learning Experience:</a:t>
            </a:r>
            <a:br>
              <a:rPr b="0" i="0" lang="en-US" sz="1300" u="none" cap="none" strike="noStrike">
                <a:solidFill>
                  <a:schemeClr val="dk1"/>
                </a:solidFill>
                <a:latin typeface="Times New Roman"/>
                <a:ea typeface="Times New Roman"/>
                <a:cs typeface="Times New Roman"/>
                <a:sym typeface="Times New Roman"/>
              </a:rPr>
            </a:br>
            <a:r>
              <a:rPr b="0" i="0" lang="en-US" sz="1300" u="none" cap="none" strike="noStrike">
                <a:solidFill>
                  <a:schemeClr val="dk1"/>
                </a:solidFill>
                <a:latin typeface="Times New Roman"/>
                <a:ea typeface="Times New Roman"/>
                <a:cs typeface="Times New Roman"/>
                <a:sym typeface="Times New Roman"/>
              </a:rPr>
              <a:t>The system provides a complete pipeline from CSV upload to explanation visualization, transforming ML education into a hands-on, insight-driven experience.</a:t>
            </a:r>
            <a:endParaRPr sz="2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ph type="ctrTitle"/>
          </p:nvPr>
        </p:nvSpPr>
        <p:spPr>
          <a:xfrm>
            <a:off x="0" y="0"/>
            <a:ext cx="9144000" cy="649288"/>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80555"/>
              <a:buFont typeface="Arial"/>
              <a:buNone/>
            </a:pPr>
            <a:r>
              <a:rPr lang="en-US">
                <a:solidFill>
                  <a:schemeClr val="dk1"/>
                </a:solidFill>
              </a:rPr>
              <a:t>References</a:t>
            </a:r>
            <a:endParaRPr/>
          </a:p>
        </p:txBody>
      </p:sp>
      <p:sp>
        <p:nvSpPr>
          <p:cNvPr id="260" name="Google Shape;260;p40"/>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sp>
        <p:nvSpPr>
          <p:cNvPr id="261" name="Google Shape;261;p40"/>
          <p:cNvSpPr txBox="1"/>
          <p:nvPr>
            <p:ph idx="1" type="body"/>
          </p:nvPr>
        </p:nvSpPr>
        <p:spPr>
          <a:xfrm>
            <a:off x="165100" y="914400"/>
            <a:ext cx="8763000" cy="3479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1. Ribeiro, M. T., Singh, S., &amp; Guestrin, C. (2016) — Why Should I Trust You?</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 </a:t>
            </a:r>
            <a:r>
              <a:rPr lang="en-US" sz="1200" u="sng">
                <a:solidFill>
                  <a:schemeClr val="hlink"/>
                </a:solidFill>
                <a:latin typeface="Times New Roman"/>
                <a:ea typeface="Times New Roman"/>
                <a:cs typeface="Times New Roman"/>
                <a:sym typeface="Times New Roman"/>
                <a:hlinkClick r:id="rId3"/>
              </a:rPr>
              <a:t>https://dl.acm.org/doi/10.1145/2939672.2939778</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Base paper on </a:t>
            </a:r>
            <a:r>
              <a:rPr i="1" lang="en-US" sz="1200">
                <a:latin typeface="Times New Roman"/>
                <a:ea typeface="Times New Roman"/>
                <a:cs typeface="Times New Roman"/>
                <a:sym typeface="Times New Roman"/>
              </a:rPr>
              <a:t>LIME</a:t>
            </a:r>
            <a:r>
              <a:rPr lang="en-US" sz="1200">
                <a:latin typeface="Times New Roman"/>
                <a:ea typeface="Times New Roman"/>
                <a:cs typeface="Times New Roman"/>
                <a:sym typeface="Times New Roman"/>
              </a:rPr>
              <a:t> — local model-agnostic explanation of ML predictions. ACM SIGKDD International Conference on Knowledge Discovery and Data Mining.</a:t>
            </a:r>
            <a:endParaRPr sz="2500"/>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2. Lundberg, S. M., &amp; Lee, S.-I. (2017) — A Unified Approach to Interpreting Model Predictions</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 https://papers.nips.cc/paper/2017/hash/8a20a8621978632d76c43dfd28b67767-Abstract.html</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Introduces SHAP based on Shapley values for consistent global and local feature attribution.</a:t>
            </a:r>
            <a:endParaRPr sz="2500"/>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3. Doshi-Velez, F., &amp; Kim, B. (2017) — Towards a Rigorous Science of Interpretable ML</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 https://arxiv.org/abs/1702.08608</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Defines evaluation frameworks for interpretability and human-centered explanation design.</a:t>
            </a:r>
            <a:endParaRPr sz="2500"/>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4. Molnar, C. (2019) — Interpretable Machine Learning</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 </a:t>
            </a:r>
            <a:r>
              <a:rPr lang="en-US" sz="1200" u="sng">
                <a:solidFill>
                  <a:schemeClr val="hlink"/>
                </a:solidFill>
                <a:latin typeface="Times New Roman"/>
                <a:ea typeface="Times New Roman"/>
                <a:cs typeface="Times New Roman"/>
                <a:sym typeface="Times New Roman"/>
                <a:hlinkClick r:id="rId4"/>
              </a:rPr>
              <a:t>https://christophm.github.io/interpretable-ml-book/</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Comprehensive guide covering PDP, SHAP, LIME, Feature Importance with visualizations.</a:t>
            </a:r>
            <a:endParaRPr sz="2500"/>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5. Spinner, T., et al. (2019) — explAIner: A Visual Analytics Framework for XAI</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 </a:t>
            </a:r>
            <a:r>
              <a:rPr lang="en-US" sz="1200" u="sng">
                <a:solidFill>
                  <a:schemeClr val="hlink"/>
                </a:solidFill>
                <a:latin typeface="Times New Roman"/>
                <a:ea typeface="Times New Roman"/>
                <a:cs typeface="Times New Roman"/>
                <a:sym typeface="Times New Roman"/>
                <a:hlinkClick r:id="rId5"/>
              </a:rPr>
              <a:t>https://ieeexplore.ieee.org/document/8807380</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Visual analytics system for interactive and explainable ML. IEEE TVCG.</a:t>
            </a:r>
            <a:endParaRPr sz="2500"/>
          </a:p>
          <a:p>
            <a:pPr indent="-228600" lvl="0" marL="457200" rtl="0" algn="l">
              <a:lnSpc>
                <a:spcPct val="100000"/>
              </a:lnSpc>
              <a:spcBef>
                <a:spcPts val="0"/>
              </a:spcBef>
              <a:spcAft>
                <a:spcPts val="0"/>
              </a:spcAft>
              <a:buSzPts val="1400"/>
              <a:buNone/>
            </a:pPr>
            <a:r>
              <a:t/>
            </a:r>
            <a:endParaRPr sz="1200">
              <a:solidFill>
                <a:srgbClr val="FF0000"/>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1"/>
          <p:cNvSpPr txBox="1"/>
          <p:nvPr>
            <p:ph idx="1" type="body"/>
          </p:nvPr>
        </p:nvSpPr>
        <p:spPr>
          <a:xfrm>
            <a:off x="116974" y="156411"/>
            <a:ext cx="8763000" cy="4463715"/>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6. “IoT Network Anomaly Detection in Smart Homes Using Machine Learning” (ResearchGate)</a:t>
            </a:r>
            <a:r>
              <a:rPr lang="en-US" sz="1200">
                <a:latin typeface="Times New Roman"/>
                <a:ea typeface="Times New Roman"/>
                <a:cs typeface="Times New Roman"/>
                <a:sym typeface="Times New Roman"/>
              </a:rPr>
              <a:t> </a:t>
            </a:r>
            <a:r>
              <a:rPr lang="en-US" sz="1200" u="sng">
                <a:solidFill>
                  <a:schemeClr val="hlink"/>
                </a:solidFill>
                <a:latin typeface="Times New Roman"/>
                <a:ea typeface="Times New Roman"/>
                <a:cs typeface="Times New Roman"/>
                <a:sym typeface="Times New Roman"/>
                <a:hlinkClick r:id="rId3"/>
              </a:rPr>
              <a:t>https://ieeexplore.ieee.org/document/9222346</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Aggregates local explanations into global summaries. IEEE TVCG.</a:t>
            </a:r>
            <a:endParaRPr sz="2500"/>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7. Kovalerchuk, B., et al. (2020) — Survey of Explainable ML with Visual Methods</a:t>
            </a:r>
            <a:endParaRPr sz="2500"/>
          </a:p>
          <a:p>
            <a:pPr indent="-228600" lvl="0" marL="457200" rtl="0" algn="l">
              <a:lnSpc>
                <a:spcPct val="100000"/>
              </a:lnSpc>
              <a:spcBef>
                <a:spcPts val="0"/>
              </a:spcBef>
              <a:spcAft>
                <a:spcPts val="0"/>
              </a:spcAft>
              <a:buSzPts val="1400"/>
              <a:buNone/>
            </a:pPr>
            <a:r>
              <a:rPr lang="en-US" sz="1200" u="sng">
                <a:solidFill>
                  <a:schemeClr val="hlink"/>
                </a:solidFill>
                <a:latin typeface="Times New Roman"/>
                <a:ea typeface="Times New Roman"/>
                <a:cs typeface="Times New Roman"/>
                <a:sym typeface="Times New Roman"/>
                <a:hlinkClick r:id="rId4"/>
              </a:rPr>
              <a:t>https://wires.onlinelibrary.wiley.com/doi/10.1002/widm.1375</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Survey on visual and granular XAI methods. Wiley WIREs Data Mining.</a:t>
            </a:r>
            <a:endParaRPr sz="2500"/>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8. Khelifi, L., et al. (2024) — EX-LAD: Explainable Dashboards for Learning Analytics</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 </a:t>
            </a:r>
            <a:r>
              <a:rPr lang="en-US" sz="1200" u="sng">
                <a:solidFill>
                  <a:schemeClr val="hlink"/>
                </a:solidFill>
                <a:latin typeface="Times New Roman"/>
                <a:ea typeface="Times New Roman"/>
                <a:cs typeface="Times New Roman"/>
                <a:sym typeface="Times New Roman"/>
                <a:hlinkClick r:id="rId5"/>
              </a:rPr>
              <a:t>https://www.sciencedirect.com/science/article/pii/S2666920X24000432</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Explainable AI dashboards for educational prediction systems.</a:t>
            </a:r>
            <a:endParaRPr sz="2500"/>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 9. “Real-Time IoT Energy Monitoring and Hybrid Anomaly Detection” (PDF)</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 https://doi.org/10.1016/j.caeai.2024.100214</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Open access master’s thesis covering IoT + energy anomaly monitoring.</a:t>
            </a:r>
            <a:endParaRPr sz="2500"/>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b="1" lang="en-US" sz="1200">
                <a:latin typeface="Times New Roman"/>
                <a:ea typeface="Times New Roman"/>
                <a:cs typeface="Times New Roman"/>
                <a:sym typeface="Times New Roman"/>
              </a:rPr>
              <a:t> 10. “DÏoT: Federated Self-Learning for IoT Security” — Open Access</a:t>
            </a:r>
            <a:endParaRPr sz="2500"/>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 </a:t>
            </a:r>
            <a:r>
              <a:rPr lang="en-US" sz="1200" u="sng">
                <a:solidFill>
                  <a:schemeClr val="hlink"/>
                </a:solidFill>
                <a:latin typeface="Times New Roman"/>
                <a:ea typeface="Times New Roman"/>
                <a:cs typeface="Times New Roman"/>
                <a:sym typeface="Times New Roman"/>
                <a:hlinkClick r:id="rId6"/>
              </a:rPr>
              <a:t>https://arxiv.org/abs/2501.12345</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lang="en-US" sz="1200">
                <a:latin typeface="Times New Roman"/>
                <a:ea typeface="Times New Roman"/>
                <a:cs typeface="Times New Roman"/>
                <a:sym typeface="Times New Roman"/>
              </a:rPr>
              <a:t>Taxonomy of intrinsic vs post-hoc XAI; reviews LIME, SHAP, Grad-CAM, and Integrated Gradients.</a:t>
            </a:r>
            <a:endParaRPr sz="2500"/>
          </a:p>
          <a:p>
            <a:pPr indent="-228600" lvl="0" marL="457200" rtl="0" algn="l">
              <a:lnSpc>
                <a:spcPct val="100000"/>
              </a:lnSpc>
              <a:spcBef>
                <a:spcPts val="0"/>
              </a:spcBef>
              <a:spcAft>
                <a:spcPts val="0"/>
              </a:spcAft>
              <a:buSzPts val="1400"/>
              <a:buNone/>
            </a:pPr>
            <a:r>
              <a:t/>
            </a:r>
            <a:endParaRPr sz="1200"/>
          </a:p>
          <a:p>
            <a:pPr indent="-228600" lvl="0" marL="457200" rtl="0" algn="l">
              <a:lnSpc>
                <a:spcPct val="100000"/>
              </a:lnSpc>
              <a:spcBef>
                <a:spcPts val="0"/>
              </a:spcBef>
              <a:spcAft>
                <a:spcPts val="0"/>
              </a:spcAft>
              <a:buSzPts val="1400"/>
              <a:buNone/>
            </a:pPr>
            <a:r>
              <a:rPr b="1" lang="en-US" sz="1200"/>
              <a:t>Scikit-learn Documentation</a:t>
            </a:r>
            <a:endParaRPr sz="2500"/>
          </a:p>
          <a:p>
            <a:pPr indent="-228600" lvl="0" marL="457200" rtl="0" algn="l">
              <a:lnSpc>
                <a:spcPct val="100000"/>
              </a:lnSpc>
              <a:spcBef>
                <a:spcPts val="0"/>
              </a:spcBef>
              <a:spcAft>
                <a:spcPts val="0"/>
              </a:spcAft>
              <a:buSzPts val="1400"/>
              <a:buNone/>
            </a:pPr>
            <a:r>
              <a:rPr lang="en-US" sz="1200"/>
              <a:t>SHAP Library Documentation</a:t>
            </a:r>
            <a:endParaRPr sz="2500"/>
          </a:p>
          <a:p>
            <a:pPr indent="-228600" lvl="0" marL="457200" rtl="0" algn="l">
              <a:lnSpc>
                <a:spcPct val="100000"/>
              </a:lnSpc>
              <a:spcBef>
                <a:spcPts val="0"/>
              </a:spcBef>
              <a:spcAft>
                <a:spcPts val="0"/>
              </a:spcAft>
              <a:buSzPts val="1400"/>
              <a:buNone/>
            </a:pPr>
            <a:r>
              <a:rPr lang="en-US" sz="1200" u="sng">
                <a:solidFill>
                  <a:schemeClr val="hlink"/>
                </a:solidFill>
                <a:hlinkClick r:id="rId7"/>
              </a:rPr>
              <a:t>https://shap.readthedocs.io/</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t/>
            </a:r>
            <a:endParaRPr sz="1200">
              <a:latin typeface="Times New Roman"/>
              <a:ea typeface="Times New Roman"/>
              <a:cs typeface="Times New Roman"/>
              <a:sym typeface="Times New Roman"/>
            </a:endParaRPr>
          </a:p>
          <a:p>
            <a:pPr indent="-228600" lvl="0" marL="457200" rtl="0" algn="l">
              <a:lnSpc>
                <a:spcPct val="100000"/>
              </a:lnSpc>
              <a:spcBef>
                <a:spcPts val="0"/>
              </a:spcBef>
              <a:spcAft>
                <a:spcPts val="0"/>
              </a:spcAft>
              <a:buSzPts val="1400"/>
              <a:buNone/>
            </a:pPr>
            <a:r>
              <a:rPr lang="en-US" sz="1200" u="sng">
                <a:solidFill>
                  <a:schemeClr val="hlink"/>
                </a:solidFill>
                <a:hlinkClick r:id="rId8"/>
              </a:rPr>
              <a:t>LIME Library Documentation</a:t>
            </a:r>
            <a:r>
              <a:rPr lang="en-US" sz="1200"/>
              <a:t>: https://github.com/marcotcr/lime</a:t>
            </a:r>
            <a:endParaRPr sz="1200">
              <a:latin typeface="Times New Roman"/>
              <a:ea typeface="Times New Roman"/>
              <a:cs typeface="Times New Roman"/>
              <a:sym typeface="Times New Roman"/>
            </a:endParaRPr>
          </a:p>
        </p:txBody>
      </p:sp>
      <p:sp>
        <p:nvSpPr>
          <p:cNvPr id="267" name="Google Shape;267;p41"/>
          <p:cNvSpPr txBox="1"/>
          <p:nvPr>
            <p:ph idx="12" type="sldNum"/>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2"/>
          <p:cNvSpPr txBox="1"/>
          <p:nvPr>
            <p:ph type="title"/>
          </p:nvPr>
        </p:nvSpPr>
        <p:spPr>
          <a:xfrm>
            <a:off x="0" y="2252662"/>
            <a:ext cx="9144000" cy="841375"/>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i="0" lang="en-US" sz="3600" u="none">
                <a:solidFill>
                  <a:srgbClr val="000000"/>
                </a:solidFill>
                <a:latin typeface="Times New Roman"/>
                <a:ea typeface="Times New Roman"/>
                <a:cs typeface="Times New Roman"/>
                <a:sym typeface="Times New Roman"/>
              </a:rPr>
              <a:t>Thank you</a:t>
            </a:r>
            <a:endParaRPr/>
          </a:p>
        </p:txBody>
      </p:sp>
      <p:sp>
        <p:nvSpPr>
          <p:cNvPr id="273" name="Google Shape;273;p42"/>
          <p:cNvSpPr txBox="1"/>
          <p:nvPr/>
        </p:nvSpPr>
        <p:spPr>
          <a:xfrm>
            <a:off x="8472487" y="4662487"/>
            <a:ext cx="549275" cy="393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595959"/>
              </a:buClr>
              <a:buSzPts val="1000"/>
              <a:buFont typeface="Arial"/>
              <a:buNone/>
            </a:pPr>
            <a:fld id="{00000000-1234-1234-1234-123412341234}" type="slidenum">
              <a:rPr b="0" i="0" lang="en-US" sz="1000" u="none" cap="none" strike="noStrike">
                <a:solidFill>
                  <a:srgbClr val="59595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